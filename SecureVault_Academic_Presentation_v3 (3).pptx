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7a4a602dee47d0" /><Relationship Type="http://schemas.openxmlformats.org/officeDocument/2006/relationships/extended-properties" Target="/docProps/app.xml" Id="R5de4c32460794e3d" /><Relationship Type="http://schemas.openxmlformats.org/officeDocument/2006/relationships/officeDocument" Target="/ppt/presentation.xml" Id="Rc0e385d7a99740f6" /></Relationships>
</file>

<file path=ppt/presentation.xml><?xml version="1.0" encoding="utf-8"?>
<p:presentation xmlns:p="http://schemas.openxmlformats.org/presentationml/2006/main">
  <p:sldMasterIdLst>
    <p:sldMasterId xmlns:r="http://schemas.openxmlformats.org/officeDocument/2006/relationships" id="2147483648" r:id="R258b9a20c6e44162"/>
  </p:sldMasterIdLst>
  <p:notesMasterIdLst>
    <p:notesMasterId xmlns:r="http://schemas.openxmlformats.org/officeDocument/2006/relationships" r:id="Rd4d5dc4b04864c8e"/>
  </p:notesMasterIdLst>
  <p:sldIdLst>
    <p:sldId xmlns:r="http://schemas.openxmlformats.org/officeDocument/2006/relationships" id="256" r:id="R8272c5aaf936411f"/>
    <p:sldId xmlns:r="http://schemas.openxmlformats.org/officeDocument/2006/relationships" id="257" r:id="Rf405d1abb1eb4c13"/>
    <p:sldId xmlns:r="http://schemas.openxmlformats.org/officeDocument/2006/relationships" id="258" r:id="R053a965658d14cad"/>
    <p:sldId xmlns:r="http://schemas.openxmlformats.org/officeDocument/2006/relationships" id="259" r:id="Rcd9a08e89e1e49a2"/>
    <p:sldId xmlns:r="http://schemas.openxmlformats.org/officeDocument/2006/relationships" id="260" r:id="R945649a60970403a"/>
    <p:sldId xmlns:r="http://schemas.openxmlformats.org/officeDocument/2006/relationships" id="261" r:id="R99f6526b5c484519"/>
    <p:sldId xmlns:r="http://schemas.openxmlformats.org/officeDocument/2006/relationships" id="262" r:id="Rb2bfbed4fe9b4c6f"/>
    <p:sldId xmlns:r="http://schemas.openxmlformats.org/officeDocument/2006/relationships" id="263" r:id="R2e8c1438cd7a471e"/>
    <p:sldId xmlns:r="http://schemas.openxmlformats.org/officeDocument/2006/relationships" id="264" r:id="R3ad2fae01215446a"/>
    <p:sldId xmlns:r="http://schemas.openxmlformats.org/officeDocument/2006/relationships" id="265" r:id="R34df853074664b74"/>
    <p:sldId xmlns:r="http://schemas.openxmlformats.org/officeDocument/2006/relationships" id="266" r:id="Rc9dfb7b0356543e3"/>
    <p:sldId xmlns:r="http://schemas.openxmlformats.org/officeDocument/2006/relationships" id="267" r:id="Rb70b51988b4b4bea"/>
    <p:sldId xmlns:r="http://schemas.openxmlformats.org/officeDocument/2006/relationships" id="268" r:id="Rad4b3d6d683e4f8c"/>
    <p:sldId xmlns:r="http://schemas.openxmlformats.org/officeDocument/2006/relationships" id="269" r:id="R145355a5314a4315"/>
    <p:sldId xmlns:r="http://schemas.openxmlformats.org/officeDocument/2006/relationships" id="270" r:id="R93505eb77f4c4ee1"/>
    <p:sldId xmlns:r="http://schemas.openxmlformats.org/officeDocument/2006/relationships" id="271" r:id="Rcdf673a520da4aa9"/>
    <p:sldId xmlns:r="http://schemas.openxmlformats.org/officeDocument/2006/relationships" id="272" r:id="R99c5fbaff94b44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9eb73d3cc44e79" /><Relationship Type="http://schemas.openxmlformats.org/officeDocument/2006/relationships/slideMaster" Target="/ppt/slideMasters/slideMaster1.xml" Id="R258b9a20c6e44162" /><Relationship Type="http://schemas.openxmlformats.org/officeDocument/2006/relationships/notesMaster" Target="/ppt/notesMasters/notesMaster1.xml" Id="Rd4d5dc4b04864c8e" /><Relationship Type="http://schemas.openxmlformats.org/officeDocument/2006/relationships/presProps" Target="/ppt/presProps.xml" Id="Rd4a753cb9c8c44b1" /><Relationship Type="http://schemas.openxmlformats.org/officeDocument/2006/relationships/tableStyles" Target="/ppt/tableStyles.xml" Id="R71e19c4f32d64775" /><Relationship Type="http://schemas.openxmlformats.org/officeDocument/2006/relationships/slide" Target="/ppt/slides/slide1.xml" Id="R8272c5aaf936411f" /><Relationship Type="http://schemas.openxmlformats.org/officeDocument/2006/relationships/slide" Target="/ppt/slides/slide2.xml" Id="Rf405d1abb1eb4c13" /><Relationship Type="http://schemas.openxmlformats.org/officeDocument/2006/relationships/slide" Target="/ppt/slides/slide3.xml" Id="R053a965658d14cad" /><Relationship Type="http://schemas.openxmlformats.org/officeDocument/2006/relationships/slide" Target="/ppt/slides/slide4.xml" Id="Rcd9a08e89e1e49a2" /><Relationship Type="http://schemas.openxmlformats.org/officeDocument/2006/relationships/slide" Target="/ppt/slides/slide5.xml" Id="R945649a60970403a" /><Relationship Type="http://schemas.openxmlformats.org/officeDocument/2006/relationships/slide" Target="/ppt/slides/slide6.xml" Id="R99f6526b5c484519" /><Relationship Type="http://schemas.openxmlformats.org/officeDocument/2006/relationships/slide" Target="/ppt/slides/slide7.xml" Id="Rb2bfbed4fe9b4c6f" /><Relationship Type="http://schemas.openxmlformats.org/officeDocument/2006/relationships/slide" Target="/ppt/slides/slide8.xml" Id="R2e8c1438cd7a471e" /><Relationship Type="http://schemas.openxmlformats.org/officeDocument/2006/relationships/slide" Target="/ppt/slides/slide9.xml" Id="R3ad2fae01215446a" /><Relationship Type="http://schemas.openxmlformats.org/officeDocument/2006/relationships/slide" Target="/ppt/slides/slide10.xml" Id="R34df853074664b74" /><Relationship Type="http://schemas.openxmlformats.org/officeDocument/2006/relationships/slide" Target="/ppt/slides/slide11.xml" Id="Rc9dfb7b0356543e3" /><Relationship Type="http://schemas.openxmlformats.org/officeDocument/2006/relationships/slide" Target="/ppt/slides/slide12.xml" Id="Rb70b51988b4b4bea" /><Relationship Type="http://schemas.openxmlformats.org/officeDocument/2006/relationships/slide" Target="/ppt/slides/slide13.xml" Id="Rad4b3d6d683e4f8c" /><Relationship Type="http://schemas.openxmlformats.org/officeDocument/2006/relationships/slide" Target="/ppt/slides/slide14.xml" Id="R145355a5314a4315" /><Relationship Type="http://schemas.openxmlformats.org/officeDocument/2006/relationships/slide" Target="/ppt/slides/slide15.xml" Id="R93505eb77f4c4ee1" /><Relationship Type="http://schemas.openxmlformats.org/officeDocument/2006/relationships/slide" Target="/ppt/slides/slide16.xml" Id="Rcdf673a520da4aa9" /><Relationship Type="http://schemas.openxmlformats.org/officeDocument/2006/relationships/slide" Target="/ppt/slides/slide17.xml" Id="R99c5fbaff94b44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7f64ec9ea24b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6b30ac410f4929" /><Relationship Type="http://schemas.openxmlformats.org/officeDocument/2006/relationships/notesMaster" Target="/ppt/notesMasters/notesMaster1.xml" Id="R88ba2654c2f042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7f5b3491f84794" /><Relationship Type="http://schemas.openxmlformats.org/officeDocument/2006/relationships/notesMaster" Target="/ppt/notesMasters/notesMaster1.xml" Id="R9b48866fcb3e43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cab514b7b2469c" /><Relationship Type="http://schemas.openxmlformats.org/officeDocument/2006/relationships/notesMaster" Target="/ppt/notesMasters/notesMaster1.xml" Id="R6c0d1dff27b749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0a30b0fb7b4490" /><Relationship Type="http://schemas.openxmlformats.org/officeDocument/2006/relationships/notesMaster" Target="/ppt/notesMasters/notesMaster1.xml" Id="Rf2bfae9cd19847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b13b79602944d1" /><Relationship Type="http://schemas.openxmlformats.org/officeDocument/2006/relationships/notesMaster" Target="/ppt/notesMasters/notesMaster1.xml" Id="Rfcaf0348260b43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5ffbaecb7c4786" /><Relationship Type="http://schemas.openxmlformats.org/officeDocument/2006/relationships/notesMaster" Target="/ppt/notesMasters/notesMaster1.xml" Id="R16ef7bcd175649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6e543944ef49d7" /><Relationship Type="http://schemas.openxmlformats.org/officeDocument/2006/relationships/notesMaster" Target="/ppt/notesMasters/notesMaster1.xml" Id="R9447e225a6ba4c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cc8b9e013340d2" /><Relationship Type="http://schemas.openxmlformats.org/officeDocument/2006/relationships/notesMaster" Target="/ppt/notesMasters/notesMaster1.xml" Id="R83b5aec54bd546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adb8ad96a344ce" /><Relationship Type="http://schemas.openxmlformats.org/officeDocument/2006/relationships/notesMaster" Target="/ppt/notesMasters/notesMaster1.xml" Id="R624b66b797fd4a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47d4cace7441b6" /><Relationship Type="http://schemas.openxmlformats.org/officeDocument/2006/relationships/notesMaster" Target="/ppt/notesMasters/notesMaster1.xml" Id="Rcf2e0e66b9d349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b3bcdd0c4b46bb" /><Relationship Type="http://schemas.openxmlformats.org/officeDocument/2006/relationships/notesMaster" Target="/ppt/notesMasters/notesMaster1.xml" Id="Ref8c6b3bda2041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b566db4ca44b5a" /><Relationship Type="http://schemas.openxmlformats.org/officeDocument/2006/relationships/notesMaster" Target="/ppt/notesMasters/notesMaster1.xml" Id="R516e63ec9d9d4a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c8ed1a07f6448a" /><Relationship Type="http://schemas.openxmlformats.org/officeDocument/2006/relationships/notesMaster" Target="/ppt/notesMasters/notesMaster1.xml" Id="R8be6c720e5674a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4c2a4706d04baf" /><Relationship Type="http://schemas.openxmlformats.org/officeDocument/2006/relationships/notesMaster" Target="/ppt/notesMasters/notesMaster1.xml" Id="Re20cdc45045843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96f455217646b1" /><Relationship Type="http://schemas.openxmlformats.org/officeDocument/2006/relationships/notesMaster" Target="/ppt/notesMasters/notesMaster1.xml" Id="Rcda6508518a84d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8010b6380d4180" /><Relationship Type="http://schemas.openxmlformats.org/officeDocument/2006/relationships/notesMaster" Target="/ppt/notesMasters/notesMaster1.xml" Id="Rc449bea7f52a43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9cdc4863494651" /><Relationship Type="http://schemas.openxmlformats.org/officeDocument/2006/relationships/notesMaster" Target="/ppt/notesMasters/notesMaster1.xml" Id="Re0639920cc3e42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purpose: SecureVault allows registered users to store and share private documents using a server they do not trust with plaintext or private keys. The client performs encryption, decryption, signature and certificate verification. The original supplied date is incomplete, so the cover omits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decisions answer separate security questions. Argon2id makes password guessing costly. AES-128-GCM protects document bytes, encrypted private keys and wrapped document keys. Ephemeral P-256 ECDH plus HKDF derives a wrapping key. ECDSA authenticates sharing records. Private CA certifies user/public-key bindings. A local trusted_versions.json remembers accepted versions after client restart. The untrusted server may read, replace, delete or replay its own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whole end-to-end path: sender locally encrypts a document using a newly generated K_doc, then uploads an SGCM package. To share, sender validates recipient certificate, wraps K_doc using ephemeral ECDH and signs ShareRecord. Server stores and routes those objects. Recipient verifies sender certificate and signature, unwraps key and verifies the GCM-protected document before saving plaintext. The server can see routing metadata and a clear list 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Clients and authentic CA public verification key are trusted. The CA admin and signing key are separately trusted for enrollment. The untrusted document server may inspect, modify, delete or replay all objects and network messages. Client-side cryptography protects document contents and long-term private keys. The server sees identities, document IDs, sizes, versions, timestamps and clear filenames used in lists. Availability, forgotten passwords and compromised client device are outside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encodes password as UTF-8, samples a fresh 16-byte salt, and uses Argon2id with 128 MiB memory, 3 iterations and parallelism 1 to produce a 32-byte verifier. Server stores the salt and verifier rather than plaintext. Argon2id slows offline guesses but weak passwords remain vulnerable. The approximate 255 ms reported benchmark was local and does not describe an attacker’s hardware.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protects long-term P-256 ECDH and ECDSA private keys as distinct encrypted objects. Password-derived material is computed with separate fresh salts and Argon2id. AES-128-GCM encrypts each object at rest. The server stores encrypted objects, while client uses the supplied password at login to recover keys locally. Never describe a single key pair as serving both ECDH and ECDSA.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certificate binds username to distinct ECDH and ECDSA public keys. Enrollment request is signed with newly generated ECDSA private key. CA administrator must independently verify applicant’s right to the username and key fingerprints through a trusted channel before issuance. Client verifies authentic CA signature, expected username, certificate validity and both public-key values before trusting the certificate. Merely typing APPROVE is not identity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 creates document ID, owner, version, size and timestamp. Each encryption uses a newly generated 16-byte K_doc and random 12-byte nonce with AES-128-GCM. Public metadata is authenticated as AAD. The private payload contains filename, file type and document bytes. Integrated server stores a clear filename for listings, so that name is visible separately. In the inspected code, protect_document generates K_doc on each call, including update path through upload_file. Updates retain document ID and increment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Clear fields are document ID, owner, version, size and timestamp, and are authenticated under GCM AAD. The encrypted payload includes filename, file type and bytes. The integrated server also stores a separate clear filename to support document lists, so filename confidentiality is not complete. During verified download the displayed filename is compared with authenticated 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Stored order is magic SGCM (4 B), metadata length (4 B), public metadata, ciphertext length (8 B), nonce (12 B), ciphertext, GCM tag (16 B). Integers are big endian. The parser rejects malformed structures and limits public metadata to 64 KiB and ciphertext to about 2 GiB. Public metadata and ciphertext length are GCM additional authenticated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sharing, sender verifies the recipient’s CA certificate. For each share sender creates an ephemeral P-256 ECDH key pair and combines ephemeral private key with certified recipient static ECDH public key. HKDF-SHA-256 with fresh 16-byte salt and protocol-specific context derives a 16-byte AES wrapping key. AES-128-GCM protects the 16-byte K_doc. Authenticated context binds identities, document ID, version and ephemeral public key. K_doc never goes to server in plaintext.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recipient checks sender certificate under authentic CA public key, verifies ECDSA signature on canonical ShareRecord, then unwraps K_doc. Recipient fetches protected document, checks GCM tag before using plaintext, then matches expected document ID, owner, minimum version and filename. Only after all checks does client write temporary file and move it to destination. Signed ShareRecord includes document ID, sender, recipient, version, timestamp, ephemeral public key and wrapping details. It does not include a digest of exact protected document bytes, so no third-party signature claim on that exact file. This signature is SecureVault's non-repudiation mechanism: verification uses only the sender's public key, so a third party can attribute the record to the sender in a way a shared MAC key never could.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Inspected client/receive_share.py reads known version from client/version_store.py backed by client/trusted_versions.json. It rejects share version &lt;= saved version, authenticates signed share, unwraps key, verifies and downloads document, then saves new version. save_version never decreases a value and writes via temporary file plus os.replace. Persistence lasts across a client restart on same device. A local attacker who deletes or replaces the JSON file can undermine rollback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Confidentiality follows from AES-GCM under a fresh random K_doc, subject to secrecy of key. Integrity of encrypted document and public metadata comes from correct GCM tag verification. Sender identity comes from authentic CA binding and verified ECDSA signature on ShareRecord. K_doc secrecy in sharing relies on ephemeral-static ECDH, HKDF and AES-GCM wrapping. Server can still see metadata and refuse or delete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fresh python -m pytest -v run on the current integrated codebase gives 225 passed, 1 skipped, covering the document GCM, ECC, ECDH, ECDSA, sharing, freshness, CA, and key-wrapping suites together rather than as separately reported subsets. This is the same figure used in the written report; the team re-ran the same command immediately before finalizing both documents so the numbers stay consistent. Scenarios covered include certificate verification, successful sender-to-recipient share/key recovery, and same-session replay rejection.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pickle.loads network-deserialization issue has been fixed: network/codec.py now encodes messages as JSON with base64-encoded binary fields and an explicit whitelist of the project's own dataclasses, so a peer cannot get arbitrary objects reconstructed from network input. The most notable remaining limitation is that SecureVault has no certificate revocation mechanism, so a certificate that should no longer be trusted (a compromised key, a mistaken issuance) stays valid until its stated expiry with no way to invalidate it sooner. Server storage is in memory. The client’s trusted_versions.json is not tamper-resistant. main.py keeps uploaded_documents mapping to K_doc in client memory for current session; owner download after restart lacks that key without recovery. Also server sees metadata and may deny service. Long-term recipient ECDH key compromise may expose previously recorded shares, so no full forward secrecy. Client or CA compromise is outside core storage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to prepare: Why Argon2id? How does AAD prevent public-metadata manipulation? Why distinct ECDH and ECDSA keys? What does CA verify before issuance? What does a share signature prove, and what does it mean for non-repudiation? Why is a verified GCM tag still required? What persists after client restart? Why does having no certificate revocation mechanism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0ed0e7549345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1f88aadf7c4aab" /><Relationship Type="http://schemas.openxmlformats.org/officeDocument/2006/relationships/slideLayout" Target="/ppt/slideLayouts/slideLayout1.xml" Id="Rd6b1a78f5ed24b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b1a78f5ed24b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7abde52cf342f0" /><Relationship Type="http://schemas.openxmlformats.org/officeDocument/2006/relationships/image" Target="/ppt/media/image.png" Id="Rd20b917768f64e2a" /><Relationship Type="http://schemas.openxmlformats.org/officeDocument/2006/relationships/notesSlide" Target="/ppt/notesSlides/notesSlide1.xml" Id="R2da03ef9522b4c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0ab272890743e5" /><Relationship Type="http://schemas.openxmlformats.org/officeDocument/2006/relationships/notesSlide" Target="/ppt/notesSlides/notesSlide2.xml" Id="R32f3f82c133a45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aa0004b7084105" /><Relationship Type="http://schemas.openxmlformats.org/officeDocument/2006/relationships/image" Target="/ppt/media/image2.png" Id="Rd5274e06f7ee48a3" /><Relationship Type="http://schemas.openxmlformats.org/officeDocument/2006/relationships/notesSlide" Target="/ppt/notesSlides/notesSlide3.xml" Id="Rafa93a86df7143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7b5e871dc04515" /><Relationship Type="http://schemas.openxmlformats.org/officeDocument/2006/relationships/notesSlide" Target="/ppt/notesSlides/notesSlide4.xml" Id="Rc7da253ef99e47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5a0592449a476d" /><Relationship Type="http://schemas.openxmlformats.org/officeDocument/2006/relationships/notesSlide" Target="/ppt/notesSlides/notesSlide5.xml" Id="R8ced4ffc6c4241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3ba8c7fbdd410f" /><Relationship Type="http://schemas.openxmlformats.org/officeDocument/2006/relationships/notesSlide" Target="/ppt/notesSlides/notesSlide6.xml" Id="Rf05268b6644347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309a95d171471c" /><Relationship Type="http://schemas.openxmlformats.org/officeDocument/2006/relationships/image" Target="/ppt/media/image3.png" Id="Ra03f01fdf04341d0" /><Relationship Type="http://schemas.openxmlformats.org/officeDocument/2006/relationships/notesSlide" Target="/ppt/notesSlides/notesSlide7.xml" Id="Ra52069d4e03643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2cd00dcb2048de" /><Relationship Type="http://schemas.openxmlformats.org/officeDocument/2006/relationships/notesSlide" Target="/ppt/notesSlides/notesSlide8.xml" Id="R08faa4bf7e4e4f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976b5af5ee4b33" /><Relationship Type="http://schemas.openxmlformats.org/officeDocument/2006/relationships/notesSlide" Target="/ppt/notesSlides/notesSlide9.xml" Id="R308e088c445d4b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b2f423fcbb45fb" /><Relationship Type="http://schemas.openxmlformats.org/officeDocument/2006/relationships/notesSlide" Target="/ppt/notesSlides/notesSlide10.xml" Id="R101986ed60e341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97cb0040234c83" /><Relationship Type="http://schemas.openxmlformats.org/officeDocument/2006/relationships/notesSlide" Target="/ppt/notesSlides/notesSlide11.xml" Id="R54a1386bf3ea49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710193eb9f4442" /><Relationship Type="http://schemas.openxmlformats.org/officeDocument/2006/relationships/notesSlide" Target="/ppt/notesSlides/notesSlide12.xml" Id="Rfda488a23c3b47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04a2ac309fc4447" /><Relationship Type="http://schemas.openxmlformats.org/officeDocument/2006/relationships/notesSlide" Target="/ppt/notesSlides/notesSlide13.xml" Id="R25bba24ab625460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f707e10eaca4244" /><Relationship Type="http://schemas.openxmlformats.org/officeDocument/2006/relationships/notesSlide" Target="/ppt/notesSlides/notesSlide14.xml" Id="R772d9bc87594494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11285d0cd8462d" /><Relationship Type="http://schemas.openxmlformats.org/officeDocument/2006/relationships/notesSlide" Target="/ppt/notesSlides/notesSlide15.xml" Id="R212587f97d2b44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1697711a2f441c" /><Relationship Type="http://schemas.openxmlformats.org/officeDocument/2006/relationships/notesSlide" Target="/ppt/notesSlides/notesSlide16.xml" Id="R7dcfad2a62cd4d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7d183ed1ca04d87" /><Relationship Type="http://schemas.openxmlformats.org/officeDocument/2006/relationships/image" Target="/ppt/media/image4.png" Id="R92785098216141b0" /><Relationship Type="http://schemas.openxmlformats.org/officeDocument/2006/relationships/notesSlide" Target="/ppt/notesSlides/notesSlide17.xml" Id="R38ddf964828c4e95" /></Relationships>
</file>

<file path=ppt/slides/slide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20b917768f64e2a"/>
          <a:srcRect xmlns:a="http://schemas.openxmlformats.org/drawingml/2006/main" l="30000" t="0" r="0" b="0"/>
          <a:stretch xmlns:a="http://schemas.openxmlformats.org/drawingml/2006/main"/>
        </p:blipFill>
        <p:spPr>
          <a:xfrm xmlns:a="http://schemas.openxmlformats.org/drawingml/2006/main">
            <a:off x="6496050" y="0"/>
            <a:ext cx="56959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B5A531-EEC6-42AC-A700-8F62B44C387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EB32C0-2058-4506-89CF-61CC24784BB8}"/>
              </a:ext>
            </a:extLst>
          </p:cNvPr>
          <p:cNvSpPr>
            <a:spLocks xmlns:a="http://schemas.openxmlformats.org/drawingml/2006/main" noGrp="1"/>
          </p:cNvSpPr>
          <p:nvPr/>
        </p:nvSpPr>
        <p:spPr>
          <a:xfrm xmlns:a="http://schemas.openxmlformats.org/drawingml/2006/main">
            <a:off x="647700" y="5810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DejaVu Sans"/>
                <a:ea typeface="DejaVu Sans"/>
                <a:cs typeface="DejaVu Sans"/>
              </a:defRPr>
            </a:pPr>
            <a:r>
              <a:rPr sz="1425" b="1">
                <a:solidFill>
                  <a:srgbClr val="087F79"/>
                </a:solidFill>
                <a:latin typeface="DejaVu Sans"/>
                <a:ea typeface="DejaVu Sans"/>
                <a:cs typeface="DejaVu Sans"/>
              </a:rPr>
              <a:t>BIRZEIT UNIVERSITY</a:t>
            </a:r>
          </a:p>
        </p:txBody>
      </p:sp>
      <p:sp>
        <p:nvSpPr>
          <p:cNvPr id="4" name="">
            <a:extLst xmlns:a="http://schemas.openxmlformats.org/drawingml/2006/main">
              <a:ext uri="{FF2B5EF4-FFF2-40B4-BE49-F238E27FC236}">
                <a16:creationId xmlns:a16="http://schemas.microsoft.com/office/drawing/2014/main" id="{ABA442E8-A2EC-432C-9FFE-01EBB0BC0A5E}"/>
              </a:ext>
            </a:extLst>
          </p:cNvPr>
          <p:cNvSpPr>
            <a:spLocks xmlns:a="http://schemas.openxmlformats.org/drawingml/2006/main" noGrp="1"/>
          </p:cNvSpPr>
          <p:nvPr/>
        </p:nvSpPr>
        <p:spPr>
          <a:xfrm xmlns:a="http://schemas.openxmlformats.org/drawingml/2006/main">
            <a:off x="647700" y="1800225"/>
            <a:ext cx="5810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32C3B"/>
                </a:solidFill>
                <a:latin typeface="DejaVu Sans"/>
                <a:ea typeface="DejaVu Sans"/>
                <a:cs typeface="DejaVu Sans"/>
              </a:defRPr>
            </a:pPr>
            <a:r>
              <a:rPr sz="4650" b="1">
                <a:solidFill>
                  <a:srgbClr val="132C3B"/>
                </a:solidFill>
                <a:latin typeface="DejaVu Sans"/>
                <a:ea typeface="DejaVu Sans"/>
                <a:cs typeface="DejaVu Sans"/>
              </a:rPr>
              <a:t>SecureVault</a:t>
            </a:r>
          </a:p>
        </p:txBody>
      </p:sp>
      <p:sp>
        <p:nvSpPr>
          <p:cNvPr id="5" name="">
            <a:extLst xmlns:a="http://schemas.openxmlformats.org/drawingml/2006/main">
              <a:ext uri="{FF2B5EF4-FFF2-40B4-BE49-F238E27FC236}">
                <a16:creationId xmlns:a16="http://schemas.microsoft.com/office/drawing/2014/main" id="{88146969-52C9-43BC-979D-2A7525C44628}"/>
              </a:ext>
            </a:extLst>
          </p:cNvPr>
          <p:cNvSpPr>
            <a:spLocks xmlns:a="http://schemas.openxmlformats.org/drawingml/2006/main" noGrp="1"/>
          </p:cNvSpPr>
          <p:nvPr/>
        </p:nvSpPr>
        <p:spPr>
          <a:xfrm xmlns:a="http://schemas.openxmlformats.org/drawingml/2006/main">
            <a:off x="657225" y="2857500"/>
            <a:ext cx="57054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32C3B"/>
                </a:solidFill>
                <a:latin typeface="DejaVu Sans"/>
                <a:ea typeface="DejaVu Sans"/>
                <a:cs typeface="DejaVu Sans"/>
              </a:defRPr>
            </a:pPr>
            <a:r>
              <a:rPr sz="2400" b="0">
                <a:solidFill>
                  <a:srgbClr val="132C3B"/>
                </a:solidFill>
                <a:latin typeface="DejaVu Sans"/>
                <a:ea typeface="DejaVu Sans"/>
                <a:cs typeface="DejaVu Sans"/>
              </a:rPr>
              <a:t>Encrypted document exchange</a:t>
            </a:r>
          </a:p>
          <a:p xmlns:a="http://schemas.openxmlformats.org/drawingml/2006/main">
            <a:pPr>
              <a:defRPr sz="2400" b="0">
                <a:solidFill>
                  <a:srgbClr val="132C3B"/>
                </a:solidFill>
                <a:latin typeface="DejaVu Sans"/>
                <a:ea typeface="DejaVu Sans"/>
                <a:cs typeface="DejaVu Sans"/>
              </a:defRPr>
            </a:pPr>
            <a:r>
              <a:rPr sz="2400" b="0">
                <a:solidFill>
                  <a:srgbClr val="132C3B"/>
                </a:solidFill>
                <a:latin typeface="DejaVu Sans"/>
                <a:ea typeface="DejaVu Sans"/>
                <a:cs typeface="DejaVu Sans"/>
              </a:rPr>
              <a:t>on an untrusted server</a:t>
            </a:r>
          </a:p>
        </p:txBody>
      </p:sp>
      <p:sp>
        <p:nvSpPr>
          <p:cNvPr id="6" name="">
            <a:extLst xmlns:a="http://schemas.openxmlformats.org/drawingml/2006/main">
              <a:ext uri="{FF2B5EF4-FFF2-40B4-BE49-F238E27FC236}">
                <a16:creationId xmlns:a16="http://schemas.microsoft.com/office/drawing/2014/main" id="{C84E076B-FC12-477D-98D8-BB1146F50A96}"/>
              </a:ext>
            </a:extLst>
          </p:cNvPr>
          <p:cNvSpPr>
            <a:spLocks xmlns:a="http://schemas.openxmlformats.org/drawingml/2006/main" noGrp="1"/>
          </p:cNvSpPr>
          <p:nvPr/>
        </p:nvSpPr>
        <p:spPr>
          <a:xfrm xmlns:a="http://schemas.openxmlformats.org/drawingml/2006/main">
            <a:off x="657225" y="4581525"/>
            <a:ext cx="4705350" cy="38100"/>
          </a:xfrm>
          <a:prstGeom xmlns:a="http://schemas.openxmlformats.org/drawingml/2006/main" prst="rect">
            <a:avLst/>
          </a:prstGeom>
          <a:solidFill xmlns:a="http://schemas.openxmlformats.org/drawingml/2006/main">
            <a:srgbClr val="C38B3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8DDB1C-712D-4276-A3B7-F013CF9B63D5}"/>
              </a:ext>
            </a:extLst>
          </p:cNvPr>
          <p:cNvSpPr>
            <a:spLocks xmlns:a="http://schemas.openxmlformats.org/drawingml/2006/main" noGrp="1"/>
          </p:cNvSpPr>
          <p:nvPr/>
        </p:nvSpPr>
        <p:spPr>
          <a:xfrm xmlns:a="http://schemas.openxmlformats.org/drawingml/2006/main">
            <a:off x="666750" y="4857750"/>
            <a:ext cx="542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ENCS4320  ·  Applied Cryptography</a:t>
            </a:r>
          </a:p>
        </p:txBody>
      </p:sp>
      <p:sp>
        <p:nvSpPr>
          <p:cNvPr id="8" name="">
            <a:extLst xmlns:a="http://schemas.openxmlformats.org/drawingml/2006/main">
              <a:ext uri="{FF2B5EF4-FFF2-40B4-BE49-F238E27FC236}">
                <a16:creationId xmlns:a16="http://schemas.microsoft.com/office/drawing/2014/main" id="{66BD4551-B8EF-43D7-852C-38341DEDED50}"/>
              </a:ext>
            </a:extLst>
          </p:cNvPr>
          <p:cNvSpPr>
            <a:spLocks xmlns:a="http://schemas.openxmlformats.org/drawingml/2006/main" noGrp="1"/>
          </p:cNvSpPr>
          <p:nvPr/>
        </p:nvSpPr>
        <p:spPr>
          <a:xfrm xmlns:a="http://schemas.openxmlformats.org/drawingml/2006/main">
            <a:off x="666750" y="578167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Aya Jararaa   ·   Dalya Ghazal   ·   Mayar Etawi</a:t>
            </a:r>
          </a:p>
        </p:txBody>
      </p:sp>
      <p:sp>
        <p:nvSpPr>
          <p:cNvPr id="9" name="">
            <a:extLst xmlns:a="http://schemas.openxmlformats.org/drawingml/2006/main">
              <a:ext uri="{FF2B5EF4-FFF2-40B4-BE49-F238E27FC236}">
                <a16:creationId xmlns:a16="http://schemas.microsoft.com/office/drawing/2014/main" id="{3B452CC1-C07C-4F83-885F-E898EC104628}"/>
              </a:ext>
            </a:extLst>
          </p:cNvPr>
          <p:cNvSpPr>
            <a:spLocks xmlns:a="http://schemas.openxmlformats.org/drawingml/2006/main" noGrp="1"/>
          </p:cNvSpPr>
          <p:nvPr/>
        </p:nvSpPr>
        <p:spPr>
          <a:xfrm xmlns:a="http://schemas.openxmlformats.org/drawingml/2006/main">
            <a:off x="666750" y="61817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Dr. Ahmad Shawahna  |  Section 1</a:t>
            </a:r>
          </a:p>
        </p:txBody>
      </p:sp>
    </p:spTree>
    <p:extLst>
      <p:ext uri="{BB962C8B-B14F-4D97-AF65-F5344CB8AC3E}">
        <p14:creationId xmlns:p14="http://schemas.microsoft.com/office/powerpoint/2010/main" val="2018992574"/>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5608254-E07E-4A71-A9EF-44BC78A673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BB2736-1513-42C5-9A27-BFCF2954FEFA}"/>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ARCHITECTURE OVERVIEW</a:t>
            </a:r>
          </a:p>
        </p:txBody>
      </p:sp>
      <p:sp>
        <p:nvSpPr>
          <p:cNvPr id="3" name="">
            <a:extLst xmlns:a="http://schemas.openxmlformats.org/drawingml/2006/main">
              <a:ext uri="{FF2B5EF4-FFF2-40B4-BE49-F238E27FC236}">
                <a16:creationId xmlns:a16="http://schemas.microsoft.com/office/drawing/2014/main" id="{D0A3BD9B-B96E-4ABE-9EF9-485312EBE454}"/>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The six decisions behind SecureVault</a:t>
            </a:r>
          </a:p>
        </p:txBody>
      </p:sp>
      <p:sp>
        <p:nvSpPr>
          <p:cNvPr id="4" name="">
            <a:extLst xmlns:a="http://schemas.openxmlformats.org/drawingml/2006/main">
              <a:ext uri="{FF2B5EF4-FFF2-40B4-BE49-F238E27FC236}">
                <a16:creationId xmlns:a16="http://schemas.microsoft.com/office/drawing/2014/main" id="{9CED40E1-1E0D-428E-9B11-D29FBF29EC89}"/>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A40010-505C-48A3-AAC0-80D147BBF60E}"/>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02 / 17</a:t>
            </a:r>
          </a:p>
        </p:txBody>
      </p:sp>
      <p:sp>
        <p:nvSpPr>
          <p:cNvPr id="6" name="">
            <a:extLst xmlns:a="http://schemas.openxmlformats.org/drawingml/2006/main">
              <a:ext uri="{FF2B5EF4-FFF2-40B4-BE49-F238E27FC236}">
                <a16:creationId xmlns:a16="http://schemas.microsoft.com/office/drawing/2014/main" id="{DC3DA86B-CE89-43DC-8ACB-DA789E236D54}"/>
              </a:ext>
            </a:extLst>
          </p:cNvPr>
          <p:cNvSpPr>
            <a:spLocks xmlns:a="http://schemas.openxmlformats.org/drawingml/2006/main" noGrp="1"/>
          </p:cNvSpPr>
          <p:nvPr/>
        </p:nvSpPr>
        <p:spPr>
          <a:xfrm xmlns:a="http://schemas.openxmlformats.org/drawingml/2006/main">
            <a:off x="4743450" y="2657475"/>
            <a:ext cx="2714625" cy="1304925"/>
          </a:xfrm>
          <a:prstGeom xmlns:a="http://schemas.openxmlformats.org/drawingml/2006/main" prst="roundRect">
            <a:avLst>
              <a:gd name="adj" fmla="val 5839"/>
            </a:avLst>
          </a:prstGeom>
          <a:solidFill xmlns:a="http://schemas.openxmlformats.org/drawingml/2006/main">
            <a:srgbClr val="132C3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F2F92D-F6C8-4994-B137-A7C5A25D4F9E}"/>
              </a:ext>
            </a:extLst>
          </p:cNvPr>
          <p:cNvSpPr>
            <a:spLocks xmlns:a="http://schemas.openxmlformats.org/drawingml/2006/main" noGrp="1"/>
          </p:cNvSpPr>
          <p:nvPr/>
        </p:nvSpPr>
        <p:spPr>
          <a:xfrm xmlns:a="http://schemas.openxmlformats.org/drawingml/2006/main">
            <a:off x="4886325" y="3038475"/>
            <a:ext cx="2533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SecureVault</a:t>
            </a:r>
          </a:p>
        </p:txBody>
      </p:sp>
      <p:sp>
        <p:nvSpPr>
          <p:cNvPr id="8" name="">
            <a:extLst xmlns:a="http://schemas.openxmlformats.org/drawingml/2006/main">
              <a:ext uri="{FF2B5EF4-FFF2-40B4-BE49-F238E27FC236}">
                <a16:creationId xmlns:a16="http://schemas.microsoft.com/office/drawing/2014/main" id="{9CF69F0B-1337-4BFF-A796-931CEF3C2A29}"/>
              </a:ext>
            </a:extLst>
          </p:cNvPr>
          <p:cNvSpPr>
            <a:spLocks xmlns:a="http://schemas.openxmlformats.org/drawingml/2006/main" noGrp="1"/>
          </p:cNvSpPr>
          <p:nvPr/>
        </p:nvSpPr>
        <p:spPr>
          <a:xfrm xmlns:a="http://schemas.openxmlformats.org/drawingml/2006/main">
            <a:off x="4219575" y="2581275"/>
            <a:ext cx="51435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6218FB9-7CED-41C9-A9A8-646BDCB74E39}"/>
              </a:ext>
            </a:extLst>
          </p:cNvPr>
          <p:cNvSpPr>
            <a:spLocks xmlns:a="http://schemas.openxmlformats.org/drawingml/2006/main" noGrp="1"/>
          </p:cNvSpPr>
          <p:nvPr/>
        </p:nvSpPr>
        <p:spPr>
          <a:xfrm xmlns:a="http://schemas.openxmlformats.org/drawingml/2006/main">
            <a:off x="704850" y="211455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Argon2id</a:t>
            </a:r>
          </a:p>
        </p:txBody>
      </p:sp>
      <p:sp>
        <p:nvSpPr>
          <p:cNvPr id="10" name="">
            <a:extLst xmlns:a="http://schemas.openxmlformats.org/drawingml/2006/main">
              <a:ext uri="{FF2B5EF4-FFF2-40B4-BE49-F238E27FC236}">
                <a16:creationId xmlns:a16="http://schemas.microsoft.com/office/drawing/2014/main" id="{24C1B54B-FD10-4EDE-8ED7-1338D5FA9DCC}"/>
              </a:ext>
            </a:extLst>
          </p:cNvPr>
          <p:cNvSpPr>
            <a:spLocks xmlns:a="http://schemas.openxmlformats.org/drawingml/2006/main" noGrp="1"/>
          </p:cNvSpPr>
          <p:nvPr/>
        </p:nvSpPr>
        <p:spPr>
          <a:xfrm xmlns:a="http://schemas.openxmlformats.org/drawingml/2006/main">
            <a:off x="704850" y="25527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Password verifier</a:t>
            </a:r>
          </a:p>
        </p:txBody>
      </p:sp>
      <p:sp>
        <p:nvSpPr>
          <p:cNvPr id="11" name="">
            <a:extLst xmlns:a="http://schemas.openxmlformats.org/drawingml/2006/main">
              <a:ext uri="{FF2B5EF4-FFF2-40B4-BE49-F238E27FC236}">
                <a16:creationId xmlns:a16="http://schemas.microsoft.com/office/drawing/2014/main" id="{6D7D9DB7-F92B-4B5C-A686-DE9C6EF91FC4}"/>
              </a:ext>
            </a:extLst>
          </p:cNvPr>
          <p:cNvSpPr>
            <a:spLocks xmlns:a="http://schemas.openxmlformats.org/drawingml/2006/main" noGrp="1"/>
          </p:cNvSpPr>
          <p:nvPr/>
        </p:nvSpPr>
        <p:spPr>
          <a:xfrm xmlns:a="http://schemas.openxmlformats.org/drawingml/2006/main">
            <a:off x="4219575" y="3905250"/>
            <a:ext cx="51435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D9A6612-1103-4CFC-B4FE-3B584AD4540B}"/>
              </a:ext>
            </a:extLst>
          </p:cNvPr>
          <p:cNvSpPr>
            <a:spLocks xmlns:a="http://schemas.openxmlformats.org/drawingml/2006/main" noGrp="1"/>
          </p:cNvSpPr>
          <p:nvPr/>
        </p:nvSpPr>
        <p:spPr>
          <a:xfrm xmlns:a="http://schemas.openxmlformats.org/drawingml/2006/main">
            <a:off x="704850" y="343852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AES-128-GCM</a:t>
            </a:r>
          </a:p>
        </p:txBody>
      </p:sp>
      <p:sp>
        <p:nvSpPr>
          <p:cNvPr id="13" name="">
            <a:extLst xmlns:a="http://schemas.openxmlformats.org/drawingml/2006/main">
              <a:ext uri="{FF2B5EF4-FFF2-40B4-BE49-F238E27FC236}">
                <a16:creationId xmlns:a16="http://schemas.microsoft.com/office/drawing/2014/main" id="{FADA4ED3-51D4-4B31-A4C3-A13F70C8D15B}"/>
              </a:ext>
            </a:extLst>
          </p:cNvPr>
          <p:cNvSpPr>
            <a:spLocks xmlns:a="http://schemas.openxmlformats.org/drawingml/2006/main" noGrp="1"/>
          </p:cNvSpPr>
          <p:nvPr/>
        </p:nvSpPr>
        <p:spPr>
          <a:xfrm xmlns:a="http://schemas.openxmlformats.org/drawingml/2006/main">
            <a:off x="704850" y="38766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File + key protection</a:t>
            </a:r>
          </a:p>
        </p:txBody>
      </p:sp>
      <p:sp>
        <p:nvSpPr>
          <p:cNvPr id="14" name="">
            <a:extLst xmlns:a="http://schemas.openxmlformats.org/drawingml/2006/main">
              <a:ext uri="{FF2B5EF4-FFF2-40B4-BE49-F238E27FC236}">
                <a16:creationId xmlns:a16="http://schemas.microsoft.com/office/drawing/2014/main" id="{61FD6EA8-9124-48D6-8E35-B5ABBC96DB4B}"/>
              </a:ext>
            </a:extLst>
          </p:cNvPr>
          <p:cNvSpPr>
            <a:spLocks xmlns:a="http://schemas.openxmlformats.org/drawingml/2006/main" noGrp="1"/>
          </p:cNvSpPr>
          <p:nvPr/>
        </p:nvSpPr>
        <p:spPr>
          <a:xfrm xmlns:a="http://schemas.openxmlformats.org/drawingml/2006/main">
            <a:off x="4219575" y="5229225"/>
            <a:ext cx="51435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120B50-DFE2-4C1B-93F5-13E6ED7B8291}"/>
              </a:ext>
            </a:extLst>
          </p:cNvPr>
          <p:cNvSpPr>
            <a:spLocks xmlns:a="http://schemas.openxmlformats.org/drawingml/2006/main" noGrp="1"/>
          </p:cNvSpPr>
          <p:nvPr/>
        </p:nvSpPr>
        <p:spPr>
          <a:xfrm xmlns:a="http://schemas.openxmlformats.org/drawingml/2006/main">
            <a:off x="704850" y="47625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ECDH + HKDF</a:t>
            </a:r>
          </a:p>
        </p:txBody>
      </p:sp>
      <p:sp>
        <p:nvSpPr>
          <p:cNvPr id="16" name="">
            <a:extLst xmlns:a="http://schemas.openxmlformats.org/drawingml/2006/main">
              <a:ext uri="{FF2B5EF4-FFF2-40B4-BE49-F238E27FC236}">
                <a16:creationId xmlns:a16="http://schemas.microsoft.com/office/drawing/2014/main" id="{0263D525-23B4-4DE2-B86A-E4C250D8983F}"/>
              </a:ext>
            </a:extLst>
          </p:cNvPr>
          <p:cNvSpPr>
            <a:spLocks xmlns:a="http://schemas.openxmlformats.org/drawingml/2006/main" noGrp="1"/>
          </p:cNvSpPr>
          <p:nvPr/>
        </p:nvSpPr>
        <p:spPr>
          <a:xfrm xmlns:a="http://schemas.openxmlformats.org/drawingml/2006/main">
            <a:off x="704850" y="52006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Share-key derivation</a:t>
            </a:r>
          </a:p>
        </p:txBody>
      </p:sp>
      <p:sp>
        <p:nvSpPr>
          <p:cNvPr id="17" name="">
            <a:extLst xmlns:a="http://schemas.openxmlformats.org/drawingml/2006/main">
              <a:ext uri="{FF2B5EF4-FFF2-40B4-BE49-F238E27FC236}">
                <a16:creationId xmlns:a16="http://schemas.microsoft.com/office/drawing/2014/main" id="{CF21FC5E-2FB2-4F32-A72F-AF6946BDAA22}"/>
              </a:ext>
            </a:extLst>
          </p:cNvPr>
          <p:cNvSpPr>
            <a:spLocks xmlns:a="http://schemas.openxmlformats.org/drawingml/2006/main" noGrp="1"/>
          </p:cNvSpPr>
          <p:nvPr/>
        </p:nvSpPr>
        <p:spPr>
          <a:xfrm xmlns:a="http://schemas.openxmlformats.org/drawingml/2006/main">
            <a:off x="7458075" y="2581275"/>
            <a:ext cx="542925"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302E59E-E6CA-4BF7-8B51-87FE974A7EB0}"/>
              </a:ext>
            </a:extLst>
          </p:cNvPr>
          <p:cNvSpPr>
            <a:spLocks xmlns:a="http://schemas.openxmlformats.org/drawingml/2006/main" noGrp="1"/>
          </p:cNvSpPr>
          <p:nvPr/>
        </p:nvSpPr>
        <p:spPr>
          <a:xfrm xmlns:a="http://schemas.openxmlformats.org/drawingml/2006/main">
            <a:off x="8143875" y="21145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P-256 ECDSA</a:t>
            </a:r>
          </a:p>
        </p:txBody>
      </p:sp>
      <p:sp>
        <p:nvSpPr>
          <p:cNvPr id="19" name="">
            <a:extLst xmlns:a="http://schemas.openxmlformats.org/drawingml/2006/main">
              <a:ext uri="{FF2B5EF4-FFF2-40B4-BE49-F238E27FC236}">
                <a16:creationId xmlns:a16="http://schemas.microsoft.com/office/drawing/2014/main" id="{59D42FEB-F9A4-4814-9960-69FA96540331}"/>
              </a:ext>
            </a:extLst>
          </p:cNvPr>
          <p:cNvSpPr>
            <a:spLocks xmlns:a="http://schemas.openxmlformats.org/drawingml/2006/main" noGrp="1"/>
          </p:cNvSpPr>
          <p:nvPr/>
        </p:nvSpPr>
        <p:spPr>
          <a:xfrm xmlns:a="http://schemas.openxmlformats.org/drawingml/2006/main">
            <a:off x="8143875" y="25527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Signed share</a:t>
            </a:r>
          </a:p>
        </p:txBody>
      </p:sp>
      <p:sp>
        <p:nvSpPr>
          <p:cNvPr id="20" name="">
            <a:extLst xmlns:a="http://schemas.openxmlformats.org/drawingml/2006/main">
              <a:ext uri="{FF2B5EF4-FFF2-40B4-BE49-F238E27FC236}">
                <a16:creationId xmlns:a16="http://schemas.microsoft.com/office/drawing/2014/main" id="{4F6D9CAF-4D02-4572-87C6-A62670F58C5F}"/>
              </a:ext>
            </a:extLst>
          </p:cNvPr>
          <p:cNvSpPr>
            <a:spLocks xmlns:a="http://schemas.openxmlformats.org/drawingml/2006/main" noGrp="1"/>
          </p:cNvSpPr>
          <p:nvPr/>
        </p:nvSpPr>
        <p:spPr>
          <a:xfrm xmlns:a="http://schemas.openxmlformats.org/drawingml/2006/main">
            <a:off x="7458075" y="3905250"/>
            <a:ext cx="542925"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1E52128-F408-4059-A5E9-3C7CC8534C2B}"/>
              </a:ext>
            </a:extLst>
          </p:cNvPr>
          <p:cNvSpPr>
            <a:spLocks xmlns:a="http://schemas.openxmlformats.org/drawingml/2006/main" noGrp="1"/>
          </p:cNvSpPr>
          <p:nvPr/>
        </p:nvSpPr>
        <p:spPr>
          <a:xfrm xmlns:a="http://schemas.openxmlformats.org/drawingml/2006/main">
            <a:off x="8143875" y="3438525"/>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Private CA</a:t>
            </a:r>
          </a:p>
        </p:txBody>
      </p:sp>
      <p:sp>
        <p:nvSpPr>
          <p:cNvPr id="22" name="">
            <a:extLst xmlns:a="http://schemas.openxmlformats.org/drawingml/2006/main">
              <a:ext uri="{FF2B5EF4-FFF2-40B4-BE49-F238E27FC236}">
                <a16:creationId xmlns:a16="http://schemas.microsoft.com/office/drawing/2014/main" id="{292B6FE2-7A95-43AA-B96E-24339AFA2A33}"/>
              </a:ext>
            </a:extLst>
          </p:cNvPr>
          <p:cNvSpPr>
            <a:spLocks xmlns:a="http://schemas.openxmlformats.org/drawingml/2006/main" noGrp="1"/>
          </p:cNvSpPr>
          <p:nvPr/>
        </p:nvSpPr>
        <p:spPr>
          <a:xfrm xmlns:a="http://schemas.openxmlformats.org/drawingml/2006/main">
            <a:off x="8143875" y="38766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Trusted public keys</a:t>
            </a:r>
          </a:p>
        </p:txBody>
      </p:sp>
      <p:sp>
        <p:nvSpPr>
          <p:cNvPr id="23" name="">
            <a:extLst xmlns:a="http://schemas.openxmlformats.org/drawingml/2006/main">
              <a:ext uri="{FF2B5EF4-FFF2-40B4-BE49-F238E27FC236}">
                <a16:creationId xmlns:a16="http://schemas.microsoft.com/office/drawing/2014/main" id="{F74ED861-9F3C-4618-8A18-31EA734FF9E0}"/>
              </a:ext>
            </a:extLst>
          </p:cNvPr>
          <p:cNvSpPr>
            <a:spLocks xmlns:a="http://schemas.openxmlformats.org/drawingml/2006/main" noGrp="1"/>
          </p:cNvSpPr>
          <p:nvPr/>
        </p:nvSpPr>
        <p:spPr>
          <a:xfrm xmlns:a="http://schemas.openxmlformats.org/drawingml/2006/main">
            <a:off x="7458075" y="5229225"/>
            <a:ext cx="542925"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039F1AD-C3C0-4B65-AA48-480BDAE78682}"/>
              </a:ext>
            </a:extLst>
          </p:cNvPr>
          <p:cNvSpPr>
            <a:spLocks xmlns:a="http://schemas.openxmlformats.org/drawingml/2006/main" noGrp="1"/>
          </p:cNvSpPr>
          <p:nvPr/>
        </p:nvSpPr>
        <p:spPr>
          <a:xfrm xmlns:a="http://schemas.openxmlformats.org/drawingml/2006/main">
            <a:off x="8143875" y="47625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Version store</a:t>
            </a:r>
          </a:p>
        </p:txBody>
      </p:sp>
      <p:sp>
        <p:nvSpPr>
          <p:cNvPr id="25" name="">
            <a:extLst xmlns:a="http://schemas.openxmlformats.org/drawingml/2006/main">
              <a:ext uri="{FF2B5EF4-FFF2-40B4-BE49-F238E27FC236}">
                <a16:creationId xmlns:a16="http://schemas.microsoft.com/office/drawing/2014/main" id="{98047440-F0E5-45DC-9261-5C4E80D79718}"/>
              </a:ext>
            </a:extLst>
          </p:cNvPr>
          <p:cNvSpPr>
            <a:spLocks xmlns:a="http://schemas.openxmlformats.org/drawingml/2006/main" noGrp="1"/>
          </p:cNvSpPr>
          <p:nvPr/>
        </p:nvSpPr>
        <p:spPr>
          <a:xfrm xmlns:a="http://schemas.openxmlformats.org/drawingml/2006/main">
            <a:off x="8143875" y="52006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Replay checks</a:t>
            </a:r>
          </a:p>
        </p:txBody>
      </p:sp>
      <p:sp>
        <p:nvSpPr>
          <p:cNvPr id="26" name="">
            <a:extLst xmlns:a="http://schemas.openxmlformats.org/drawingml/2006/main">
              <a:ext uri="{FF2B5EF4-FFF2-40B4-BE49-F238E27FC236}">
                <a16:creationId xmlns:a16="http://schemas.microsoft.com/office/drawing/2014/main" id="{7341A379-8828-4AB2-B985-E6647A39F930}"/>
              </a:ext>
            </a:extLst>
          </p:cNvPr>
          <p:cNvSpPr>
            <a:spLocks xmlns:a="http://schemas.openxmlformats.org/drawingml/2006/main" noGrp="1"/>
          </p:cNvSpPr>
          <p:nvPr/>
        </p:nvSpPr>
        <p:spPr>
          <a:xfrm xmlns:a="http://schemas.openxmlformats.org/drawingml/2006/main">
            <a:off x="676275" y="6096000"/>
            <a:ext cx="10601325" cy="28575"/>
          </a:xfrm>
          <a:prstGeom xmlns:a="http://schemas.openxmlformats.org/drawingml/2006/main" prst="rect">
            <a:avLst/>
          </a:prstGeom>
          <a:solidFill xmlns:a="http://schemas.openxmlformats.org/drawingml/2006/main">
            <a:srgbClr val="C38B3E"/>
          </a:solidFill>
          <a:ln xmlns:a="http://schemas.openxmlformats.org/drawingml/2006/main" w="0">
            <a:noFill/>
          </a:ln>
        </p:spPr>
      </p:sp>
    </p:spTree>
    <p:extLst>
      <p:ext uri="{BB962C8B-B14F-4D97-AF65-F5344CB8AC3E}">
        <p14:creationId xmlns:p14="http://schemas.microsoft.com/office/powerpoint/2010/main" val="1520084720"/>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BA186E-2167-4643-928A-7A13C187C69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8C312D-C1E7-43FF-9190-2E9F0642D9B6}"/>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ONE PICTURE FIRST</a:t>
            </a:r>
          </a:p>
        </p:txBody>
      </p:sp>
      <p:sp>
        <p:nvSpPr>
          <p:cNvPr id="3" name="">
            <a:extLst xmlns:a="http://schemas.openxmlformats.org/drawingml/2006/main">
              <a:ext uri="{FF2B5EF4-FFF2-40B4-BE49-F238E27FC236}">
                <a16:creationId xmlns:a16="http://schemas.microsoft.com/office/drawing/2014/main" id="{F6AC9469-5782-4EC8-BD2D-7D3C167734EF}"/>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A document’s journey</a:t>
            </a:r>
          </a:p>
        </p:txBody>
      </p:sp>
      <p:sp>
        <p:nvSpPr>
          <p:cNvPr id="4" name="">
            <a:extLst xmlns:a="http://schemas.openxmlformats.org/drawingml/2006/main">
              <a:ext uri="{FF2B5EF4-FFF2-40B4-BE49-F238E27FC236}">
                <a16:creationId xmlns:a16="http://schemas.microsoft.com/office/drawing/2014/main" id="{A06BB8DC-135F-449B-B094-024C15748AE8}"/>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1BB803-BC55-468B-942D-E474575F75D2}"/>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03 / 17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5274e06f7ee48a3"/>
          <a:srcRect xmlns:a="http://schemas.openxmlformats.org/drawingml/2006/main" l="0" t="16000" r="0" b="7000"/>
          <a:stretch xmlns:a="http://schemas.openxmlformats.org/drawingml/2006/main"/>
        </p:blipFill>
        <p:spPr>
          <a:xfrm xmlns:a="http://schemas.openxmlformats.org/drawingml/2006/main">
            <a:off x="647700" y="1971675"/>
            <a:ext cx="10829925"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CD7A714-07BF-47E0-854A-EA502669BE63}"/>
              </a:ext>
            </a:extLst>
          </p:cNvPr>
          <p:cNvSpPr>
            <a:spLocks xmlns:a="http://schemas.openxmlformats.org/drawingml/2006/main" noGrp="1"/>
          </p:cNvSpPr>
          <p:nvPr/>
        </p:nvSpPr>
        <p:spPr>
          <a:xfrm xmlns:a="http://schemas.openxmlformats.org/drawingml/2006/main">
            <a:off x="647700" y="5381625"/>
            <a:ext cx="10829925" cy="923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8AB7DF-006B-4D1C-A971-30837741483E}"/>
              </a:ext>
            </a:extLst>
          </p:cNvPr>
          <p:cNvSpPr>
            <a:spLocks xmlns:a="http://schemas.openxmlformats.org/drawingml/2006/main" noGrp="1"/>
          </p:cNvSpPr>
          <p:nvPr/>
        </p:nvSpPr>
        <p:spPr>
          <a:xfrm xmlns:a="http://schemas.openxmlformats.org/drawingml/2006/main">
            <a:off x="847725" y="5562600"/>
            <a:ext cx="3209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9"/>
                </a:solidFill>
                <a:latin typeface="DejaVu Sans"/>
                <a:ea typeface="DejaVu Sans"/>
                <a:cs typeface="DejaVu Sans"/>
              </a:defRPr>
            </a:pPr>
            <a:r>
              <a:rPr sz="1500" b="1">
                <a:solidFill>
                  <a:srgbClr val="087F79"/>
                </a:solidFill>
                <a:latin typeface="DejaVu Sans"/>
                <a:ea typeface="DejaVu Sans"/>
                <a:cs typeface="DejaVu Sans"/>
              </a:rPr>
              <a:t>01  Encrypt on sender’s client</a:t>
            </a:r>
          </a:p>
        </p:txBody>
      </p:sp>
      <p:sp>
        <p:nvSpPr>
          <p:cNvPr id="9" name="">
            <a:extLst xmlns:a="http://schemas.openxmlformats.org/drawingml/2006/main">
              <a:ext uri="{FF2B5EF4-FFF2-40B4-BE49-F238E27FC236}">
                <a16:creationId xmlns:a16="http://schemas.microsoft.com/office/drawing/2014/main" id="{E758BB86-6A2C-4261-AD33-A9AD3C43CC3D}"/>
              </a:ext>
            </a:extLst>
          </p:cNvPr>
          <p:cNvSpPr>
            <a:spLocks xmlns:a="http://schemas.openxmlformats.org/drawingml/2006/main" noGrp="1"/>
          </p:cNvSpPr>
          <p:nvPr/>
        </p:nvSpPr>
        <p:spPr>
          <a:xfrm xmlns:a="http://schemas.openxmlformats.org/drawingml/2006/main">
            <a:off x="4295775" y="5562600"/>
            <a:ext cx="3790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38B3E"/>
                </a:solidFill>
                <a:latin typeface="DejaVu Sans"/>
                <a:ea typeface="DejaVu Sans"/>
                <a:cs typeface="DejaVu Sans"/>
              </a:defRPr>
            </a:pPr>
            <a:r>
              <a:rPr sz="1500" b="1">
                <a:solidFill>
                  <a:srgbClr val="C38B3E"/>
                </a:solidFill>
                <a:latin typeface="DejaVu Sans"/>
                <a:ea typeface="DejaVu Sans"/>
                <a:cs typeface="DejaVu Sans"/>
              </a:rPr>
              <a:t>02  Store on untrusted server</a:t>
            </a:r>
          </a:p>
        </p:txBody>
      </p:sp>
      <p:sp>
        <p:nvSpPr>
          <p:cNvPr id="10" name="">
            <a:extLst xmlns:a="http://schemas.openxmlformats.org/drawingml/2006/main">
              <a:ext uri="{FF2B5EF4-FFF2-40B4-BE49-F238E27FC236}">
                <a16:creationId xmlns:a16="http://schemas.microsoft.com/office/drawing/2014/main" id="{51347033-C113-4ADA-AC5E-B7486185BDC4}"/>
              </a:ext>
            </a:extLst>
          </p:cNvPr>
          <p:cNvSpPr>
            <a:spLocks xmlns:a="http://schemas.openxmlformats.org/drawingml/2006/main" noGrp="1"/>
          </p:cNvSpPr>
          <p:nvPr/>
        </p:nvSpPr>
        <p:spPr>
          <a:xfrm xmlns:a="http://schemas.openxmlformats.org/drawingml/2006/main">
            <a:off x="8153400" y="5562600"/>
            <a:ext cx="32289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79"/>
                </a:solidFill>
                <a:latin typeface="DejaVu Sans"/>
                <a:ea typeface="DejaVu Sans"/>
                <a:cs typeface="DejaVu Sans"/>
              </a:defRPr>
            </a:pPr>
            <a:r>
              <a:rPr sz="1425" b="1">
                <a:solidFill>
                  <a:srgbClr val="087F79"/>
                </a:solidFill>
                <a:latin typeface="DejaVu Sans"/>
                <a:ea typeface="DejaVu Sans"/>
                <a:cs typeface="DejaVu Sans"/>
              </a:rPr>
              <a:t>03  Verify on recipient’s client</a:t>
            </a:r>
          </a:p>
        </p:txBody>
      </p:sp>
    </p:spTree>
    <p:extLst>
      <p:ext uri="{BB962C8B-B14F-4D97-AF65-F5344CB8AC3E}">
        <p14:creationId xmlns:p14="http://schemas.microsoft.com/office/powerpoint/2010/main" val="2019399860"/>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F2101C-21A8-410D-9E3E-174145924A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C8639F-322A-4DBA-A3AF-7AAB317B01BF}"/>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THREAT MODEL</a:t>
            </a:r>
          </a:p>
        </p:txBody>
      </p:sp>
      <p:sp>
        <p:nvSpPr>
          <p:cNvPr id="3" name="">
            <a:extLst xmlns:a="http://schemas.openxmlformats.org/drawingml/2006/main">
              <a:ext uri="{FF2B5EF4-FFF2-40B4-BE49-F238E27FC236}">
                <a16:creationId xmlns:a16="http://schemas.microsoft.com/office/drawing/2014/main" id="{13EE87CE-811C-43E6-826E-D03483D52D19}"/>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What do we trust?</a:t>
            </a:r>
          </a:p>
        </p:txBody>
      </p:sp>
      <p:sp>
        <p:nvSpPr>
          <p:cNvPr id="4" name="">
            <a:extLst xmlns:a="http://schemas.openxmlformats.org/drawingml/2006/main">
              <a:ext uri="{FF2B5EF4-FFF2-40B4-BE49-F238E27FC236}">
                <a16:creationId xmlns:a16="http://schemas.microsoft.com/office/drawing/2014/main" id="{713F13DE-39D5-4DBD-8FCF-E00699876A2F}"/>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8DCB27-BD05-4F2C-A080-EF2B8C5077CB}"/>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04 / 17</a:t>
            </a:r>
          </a:p>
        </p:txBody>
      </p:sp>
      <p:sp>
        <p:nvSpPr>
          <p:cNvPr id="6" name="">
            <a:extLst xmlns:a="http://schemas.openxmlformats.org/drawingml/2006/main">
              <a:ext uri="{FF2B5EF4-FFF2-40B4-BE49-F238E27FC236}">
                <a16:creationId xmlns:a16="http://schemas.microsoft.com/office/drawing/2014/main" id="{725246A2-503D-4C3D-816F-E651E5989235}"/>
              </a:ext>
            </a:extLst>
          </p:cNvPr>
          <p:cNvSpPr>
            <a:spLocks xmlns:a="http://schemas.openxmlformats.org/drawingml/2006/main" noGrp="1"/>
          </p:cNvSpPr>
          <p:nvPr/>
        </p:nvSpPr>
        <p:spPr>
          <a:xfrm xmlns:a="http://schemas.openxmlformats.org/drawingml/2006/main">
            <a:off x="647700" y="2133600"/>
            <a:ext cx="5162550" cy="3324225"/>
          </a:xfrm>
          <a:prstGeom xmlns:a="http://schemas.openxmlformats.org/drawingml/2006/main" prst="roundRect">
            <a:avLst>
              <a:gd name="adj" fmla="val 2292"/>
            </a:avLst>
          </a:prstGeom>
          <a:solidFill xmlns:a="http://schemas.openxmlformats.org/drawingml/2006/main">
            <a:srgbClr val="F7E8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27F949-48C4-4B10-B140-40EB8D8302F5}"/>
              </a:ext>
            </a:extLst>
          </p:cNvPr>
          <p:cNvSpPr>
            <a:spLocks xmlns:a="http://schemas.openxmlformats.org/drawingml/2006/main" noGrp="1"/>
          </p:cNvSpPr>
          <p:nvPr/>
        </p:nvSpPr>
        <p:spPr>
          <a:xfrm xmlns:a="http://schemas.openxmlformats.org/drawingml/2006/main">
            <a:off x="6191250" y="2133600"/>
            <a:ext cx="5286375" cy="3324225"/>
          </a:xfrm>
          <a:prstGeom xmlns:a="http://schemas.openxmlformats.org/drawingml/2006/main" prst="roundRect">
            <a:avLst>
              <a:gd name="adj" fmla="val 2292"/>
            </a:avLst>
          </a:prstGeom>
          <a:solidFill xmlns:a="http://schemas.openxmlformats.org/drawingml/2006/main">
            <a:srgbClr val="E8F2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DECB62-C961-4B3E-A909-724B5AA38954}"/>
              </a:ext>
            </a:extLst>
          </p:cNvPr>
          <p:cNvSpPr>
            <a:spLocks xmlns:a="http://schemas.openxmlformats.org/drawingml/2006/main" noGrp="1"/>
          </p:cNvSpPr>
          <p:nvPr/>
        </p:nvSpPr>
        <p:spPr>
          <a:xfrm xmlns:a="http://schemas.openxmlformats.org/drawingml/2006/main">
            <a:off x="904875" y="2466975"/>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D5754"/>
                </a:solidFill>
                <a:latin typeface="DejaVu Sans"/>
                <a:ea typeface="DejaVu Sans"/>
                <a:cs typeface="DejaVu Sans"/>
              </a:defRPr>
            </a:pPr>
            <a:r>
              <a:rPr sz="2175" b="1">
                <a:solidFill>
                  <a:srgbClr val="AD5754"/>
                </a:solidFill>
                <a:latin typeface="DejaVu Sans"/>
                <a:ea typeface="DejaVu Sans"/>
                <a:cs typeface="DejaVu Sans"/>
              </a:rPr>
              <a:t>The server may</a:t>
            </a:r>
          </a:p>
        </p:txBody>
      </p:sp>
      <p:sp>
        <p:nvSpPr>
          <p:cNvPr id="9" name="">
            <a:extLst xmlns:a="http://schemas.openxmlformats.org/drawingml/2006/main">
              <a:ext uri="{FF2B5EF4-FFF2-40B4-BE49-F238E27FC236}">
                <a16:creationId xmlns:a16="http://schemas.microsoft.com/office/drawing/2014/main" id="{102DDE58-E820-4BCC-A4FC-3668C149B508}"/>
              </a:ext>
            </a:extLst>
          </p:cNvPr>
          <p:cNvSpPr>
            <a:spLocks xmlns:a="http://schemas.openxmlformats.org/drawingml/2006/main" noGrp="1"/>
          </p:cNvSpPr>
          <p:nvPr/>
        </p:nvSpPr>
        <p:spPr>
          <a:xfrm xmlns:a="http://schemas.openxmlformats.org/drawingml/2006/main">
            <a:off x="904875" y="3143250"/>
            <a:ext cx="46863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Read, alter or replace stored data</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Delete files or shares</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Replay an older response</a:t>
            </a:r>
          </a:p>
        </p:txBody>
      </p:sp>
      <p:sp>
        <p:nvSpPr>
          <p:cNvPr id="10" name="">
            <a:extLst xmlns:a="http://schemas.openxmlformats.org/drawingml/2006/main">
              <a:ext uri="{FF2B5EF4-FFF2-40B4-BE49-F238E27FC236}">
                <a16:creationId xmlns:a16="http://schemas.microsoft.com/office/drawing/2014/main" id="{56A4A3E2-1984-49A1-BF60-28B0133FAC4F}"/>
              </a:ext>
            </a:extLst>
          </p:cNvPr>
          <p:cNvSpPr>
            <a:spLocks xmlns:a="http://schemas.openxmlformats.org/drawingml/2006/main" noGrp="1"/>
          </p:cNvSpPr>
          <p:nvPr/>
        </p:nvSpPr>
        <p:spPr>
          <a:xfrm xmlns:a="http://schemas.openxmlformats.org/drawingml/2006/main">
            <a:off x="6486525" y="2466975"/>
            <a:ext cx="4648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79"/>
                </a:solidFill>
                <a:latin typeface="DejaVu Sans"/>
                <a:ea typeface="DejaVu Sans"/>
                <a:cs typeface="DejaVu Sans"/>
              </a:defRPr>
            </a:pPr>
            <a:r>
              <a:rPr sz="2175" b="1">
                <a:solidFill>
                  <a:srgbClr val="087F79"/>
                </a:solidFill>
                <a:latin typeface="DejaVu Sans"/>
                <a:ea typeface="DejaVu Sans"/>
                <a:cs typeface="DejaVu Sans"/>
              </a:rPr>
              <a:t>The client protects</a:t>
            </a:r>
          </a:p>
        </p:txBody>
      </p:sp>
      <p:sp>
        <p:nvSpPr>
          <p:cNvPr id="11" name="">
            <a:extLst xmlns:a="http://schemas.openxmlformats.org/drawingml/2006/main">
              <a:ext uri="{FF2B5EF4-FFF2-40B4-BE49-F238E27FC236}">
                <a16:creationId xmlns:a16="http://schemas.microsoft.com/office/drawing/2014/main" id="{AA2AF753-B8E9-4A58-892C-08E1A7982DFB}"/>
              </a:ext>
            </a:extLst>
          </p:cNvPr>
          <p:cNvSpPr>
            <a:spLocks xmlns:a="http://schemas.openxmlformats.org/drawingml/2006/main" noGrp="1"/>
          </p:cNvSpPr>
          <p:nvPr/>
        </p:nvSpPr>
        <p:spPr>
          <a:xfrm xmlns:a="http://schemas.openxmlformats.org/drawingml/2006/main">
            <a:off x="6486525" y="3143250"/>
            <a:ext cx="46863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Document contents</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Long-term private keys</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Authentication of accepted shares</a:t>
            </a:r>
          </a:p>
        </p:txBody>
      </p:sp>
      <p:sp>
        <p:nvSpPr>
          <p:cNvPr id="12" name="">
            <a:extLst xmlns:a="http://schemas.openxmlformats.org/drawingml/2006/main">
              <a:ext uri="{FF2B5EF4-FFF2-40B4-BE49-F238E27FC236}">
                <a16:creationId xmlns:a16="http://schemas.microsoft.com/office/drawing/2014/main" id="{A2C7724B-BA05-41B8-AAD0-9ECCEBC6AC13}"/>
              </a:ext>
            </a:extLst>
          </p:cNvPr>
          <p:cNvSpPr>
            <a:spLocks xmlns:a="http://schemas.openxmlformats.org/drawingml/2006/main" noGrp="1"/>
          </p:cNvSpPr>
          <p:nvPr/>
        </p:nvSpPr>
        <p:spPr>
          <a:xfrm xmlns:a="http://schemas.openxmlformats.org/drawingml/2006/main">
            <a:off x="752475" y="5791200"/>
            <a:ext cx="10248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Visible metadata includes usernames, IDs, sizes, timing and list filenames.</a:t>
            </a:r>
          </a:p>
        </p:txBody>
      </p:sp>
    </p:spTree>
    <p:extLst>
      <p:ext uri="{BB962C8B-B14F-4D97-AF65-F5344CB8AC3E}">
        <p14:creationId xmlns:p14="http://schemas.microsoft.com/office/powerpoint/2010/main" val="541367044"/>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BE0D952-B5E8-469E-B983-E78332A357F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73BCBB-9762-4A19-8BB8-CD2B0D539211}"/>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REGISTRATION</a:t>
            </a:r>
          </a:p>
        </p:txBody>
      </p:sp>
      <p:sp>
        <p:nvSpPr>
          <p:cNvPr id="3" name="">
            <a:extLst xmlns:a="http://schemas.openxmlformats.org/drawingml/2006/main">
              <a:ext uri="{FF2B5EF4-FFF2-40B4-BE49-F238E27FC236}">
                <a16:creationId xmlns:a16="http://schemas.microsoft.com/office/drawing/2014/main" id="{B431B87E-5B90-4D21-8815-439928F748BC}"/>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7.1  Passwords are never stored directly</a:t>
            </a:r>
          </a:p>
        </p:txBody>
      </p:sp>
      <p:sp>
        <p:nvSpPr>
          <p:cNvPr id="4" name="">
            <a:extLst xmlns:a="http://schemas.openxmlformats.org/drawingml/2006/main">
              <a:ext uri="{FF2B5EF4-FFF2-40B4-BE49-F238E27FC236}">
                <a16:creationId xmlns:a16="http://schemas.microsoft.com/office/drawing/2014/main" id="{004C584C-B01D-4CED-921C-3E4A8DCCEFEA}"/>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9A6ECA-B943-4BCE-827E-D4F7FED4A7DF}"/>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05 / 17</a:t>
            </a:r>
          </a:p>
        </p:txBody>
      </p:sp>
      <p:sp>
        <p:nvSpPr>
          <p:cNvPr id="6" name="">
            <a:extLst xmlns:a="http://schemas.openxmlformats.org/drawingml/2006/main">
              <a:ext uri="{FF2B5EF4-FFF2-40B4-BE49-F238E27FC236}">
                <a16:creationId xmlns:a16="http://schemas.microsoft.com/office/drawing/2014/main" id="{BDA68DE0-B9F9-4A12-9059-C8974A4B1864}"/>
              </a:ext>
            </a:extLst>
          </p:cNvPr>
          <p:cNvSpPr>
            <a:spLocks xmlns:a="http://schemas.openxmlformats.org/drawingml/2006/main" noGrp="1"/>
          </p:cNvSpPr>
          <p:nvPr/>
        </p:nvSpPr>
        <p:spPr>
          <a:xfrm xmlns:a="http://schemas.openxmlformats.org/drawingml/2006/main">
            <a:off x="866775" y="27432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C519D8-D784-4665-BB93-98BFC653156C}"/>
              </a:ext>
            </a:extLst>
          </p:cNvPr>
          <p:cNvSpPr>
            <a:spLocks xmlns:a="http://schemas.openxmlformats.org/drawingml/2006/main" noGrp="1"/>
          </p:cNvSpPr>
          <p:nvPr/>
        </p:nvSpPr>
        <p:spPr>
          <a:xfrm xmlns:a="http://schemas.openxmlformats.org/drawingml/2006/main">
            <a:off x="1028700" y="28194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A54DFD9C-BAD2-4450-A534-836700A352A1}"/>
              </a:ext>
            </a:extLst>
          </p:cNvPr>
          <p:cNvSpPr>
            <a:spLocks xmlns:a="http://schemas.openxmlformats.org/drawingml/2006/main" noGrp="1"/>
          </p:cNvSpPr>
          <p:nvPr/>
        </p:nvSpPr>
        <p:spPr>
          <a:xfrm xmlns:a="http://schemas.openxmlformats.org/drawingml/2006/main">
            <a:off x="714375" y="3476625"/>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Password + salt</a:t>
            </a:r>
          </a:p>
        </p:txBody>
      </p:sp>
      <p:sp>
        <p:nvSpPr>
          <p:cNvPr id="9" name="">
            <a:extLst xmlns:a="http://schemas.openxmlformats.org/drawingml/2006/main">
              <a:ext uri="{FF2B5EF4-FFF2-40B4-BE49-F238E27FC236}">
                <a16:creationId xmlns:a16="http://schemas.microsoft.com/office/drawing/2014/main" id="{9066DA4A-8D2C-4411-905A-B2E778DBABDD}"/>
              </a:ext>
            </a:extLst>
          </p:cNvPr>
          <p:cNvSpPr>
            <a:spLocks xmlns:a="http://schemas.openxmlformats.org/drawingml/2006/main" noGrp="1"/>
          </p:cNvSpPr>
          <p:nvPr/>
        </p:nvSpPr>
        <p:spPr>
          <a:xfrm xmlns:a="http://schemas.openxmlformats.org/drawingml/2006/main">
            <a:off x="4381500" y="27432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565905-960D-4A30-9765-5028C3E78733}"/>
              </a:ext>
            </a:extLst>
          </p:cNvPr>
          <p:cNvSpPr>
            <a:spLocks xmlns:a="http://schemas.openxmlformats.org/drawingml/2006/main" noGrp="1"/>
          </p:cNvSpPr>
          <p:nvPr/>
        </p:nvSpPr>
        <p:spPr>
          <a:xfrm xmlns:a="http://schemas.openxmlformats.org/drawingml/2006/main">
            <a:off x="4543425" y="28194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2</a:t>
            </a:r>
          </a:p>
        </p:txBody>
      </p:sp>
      <p:sp>
        <p:nvSpPr>
          <p:cNvPr id="11" name="">
            <a:extLst xmlns:a="http://schemas.openxmlformats.org/drawingml/2006/main">
              <a:ext uri="{FF2B5EF4-FFF2-40B4-BE49-F238E27FC236}">
                <a16:creationId xmlns:a16="http://schemas.microsoft.com/office/drawing/2014/main" id="{2A7B634C-9E49-4C77-8A7C-C7D600C29F02}"/>
              </a:ext>
            </a:extLst>
          </p:cNvPr>
          <p:cNvSpPr>
            <a:spLocks xmlns:a="http://schemas.openxmlformats.org/drawingml/2006/main" noGrp="1"/>
          </p:cNvSpPr>
          <p:nvPr/>
        </p:nvSpPr>
        <p:spPr>
          <a:xfrm xmlns:a="http://schemas.openxmlformats.org/drawingml/2006/main">
            <a:off x="4010025" y="3476625"/>
            <a:ext cx="3276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2C3B"/>
                </a:solidFill>
                <a:latin typeface="DejaVu Sans"/>
                <a:ea typeface="DejaVu Sans"/>
                <a:cs typeface="DejaVu Sans"/>
              </a:defRPr>
            </a:pPr>
            <a:r>
              <a:rPr sz="1950" b="1">
                <a:solidFill>
                  <a:srgbClr val="132C3B"/>
                </a:solidFill>
                <a:latin typeface="DejaVu Sans"/>
                <a:ea typeface="DejaVu Sans"/>
                <a:cs typeface="DejaVu Sans"/>
              </a:rPr>
              <a:t>Argon2id</a:t>
            </a:r>
          </a:p>
        </p:txBody>
      </p:sp>
      <p:sp>
        <p:nvSpPr>
          <p:cNvPr id="12" name="">
            <a:extLst xmlns:a="http://schemas.openxmlformats.org/drawingml/2006/main">
              <a:ext uri="{FF2B5EF4-FFF2-40B4-BE49-F238E27FC236}">
                <a16:creationId xmlns:a16="http://schemas.microsoft.com/office/drawing/2014/main" id="{6FEDCAFF-BCB3-4592-80EB-9F621FF06156}"/>
              </a:ext>
            </a:extLst>
          </p:cNvPr>
          <p:cNvSpPr>
            <a:spLocks xmlns:a="http://schemas.openxmlformats.org/drawingml/2006/main" noGrp="1"/>
          </p:cNvSpPr>
          <p:nvPr/>
        </p:nvSpPr>
        <p:spPr>
          <a:xfrm xmlns:a="http://schemas.openxmlformats.org/drawingml/2006/main">
            <a:off x="8420100" y="27432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E27E14-8665-49F7-AB3B-3FEC05707AF1}"/>
              </a:ext>
            </a:extLst>
          </p:cNvPr>
          <p:cNvSpPr>
            <a:spLocks xmlns:a="http://schemas.openxmlformats.org/drawingml/2006/main" noGrp="1"/>
          </p:cNvSpPr>
          <p:nvPr/>
        </p:nvSpPr>
        <p:spPr>
          <a:xfrm xmlns:a="http://schemas.openxmlformats.org/drawingml/2006/main">
            <a:off x="8582025" y="28194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3</a:t>
            </a:r>
          </a:p>
        </p:txBody>
      </p:sp>
      <p:sp>
        <p:nvSpPr>
          <p:cNvPr id="14" name="">
            <a:extLst xmlns:a="http://schemas.openxmlformats.org/drawingml/2006/main">
              <a:ext uri="{FF2B5EF4-FFF2-40B4-BE49-F238E27FC236}">
                <a16:creationId xmlns:a16="http://schemas.microsoft.com/office/drawing/2014/main" id="{4D217BBC-A5A4-4772-9132-E97C15AB2163}"/>
              </a:ext>
            </a:extLst>
          </p:cNvPr>
          <p:cNvSpPr>
            <a:spLocks xmlns:a="http://schemas.openxmlformats.org/drawingml/2006/main" noGrp="1"/>
          </p:cNvSpPr>
          <p:nvPr/>
        </p:nvSpPr>
        <p:spPr>
          <a:xfrm xmlns:a="http://schemas.openxmlformats.org/drawingml/2006/main">
            <a:off x="8382000" y="3476625"/>
            <a:ext cx="2867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2C3B"/>
                </a:solidFill>
                <a:latin typeface="DejaVu Sans"/>
                <a:ea typeface="DejaVu Sans"/>
                <a:cs typeface="DejaVu Sans"/>
              </a:defRPr>
            </a:pPr>
            <a:r>
              <a:rPr sz="1950" b="1">
                <a:solidFill>
                  <a:srgbClr val="132C3B"/>
                </a:solidFill>
                <a:latin typeface="DejaVu Sans"/>
                <a:ea typeface="DejaVu Sans"/>
                <a:cs typeface="DejaVu Sans"/>
              </a:rPr>
              <a:t>Verifier</a:t>
            </a:r>
          </a:p>
        </p:txBody>
      </p:sp>
      <p:sp>
        <p:nvSpPr>
          <p:cNvPr id="15" name="">
            <a:extLst xmlns:a="http://schemas.openxmlformats.org/drawingml/2006/main">
              <a:ext uri="{FF2B5EF4-FFF2-40B4-BE49-F238E27FC236}">
                <a16:creationId xmlns:a16="http://schemas.microsoft.com/office/drawing/2014/main" id="{B29D1DC3-BA27-4050-B004-B7BB1A1354E4}"/>
              </a:ext>
            </a:extLst>
          </p:cNvPr>
          <p:cNvSpPr>
            <a:spLocks xmlns:a="http://schemas.openxmlformats.org/drawingml/2006/main" noGrp="1"/>
          </p:cNvSpPr>
          <p:nvPr/>
        </p:nvSpPr>
        <p:spPr>
          <a:xfrm xmlns:a="http://schemas.openxmlformats.org/drawingml/2006/main">
            <a:off x="2943225" y="3000375"/>
            <a:ext cx="952500" cy="28575"/>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779D36C-68B6-4701-870A-E754D06091DC}"/>
              </a:ext>
            </a:extLst>
          </p:cNvPr>
          <p:cNvSpPr>
            <a:spLocks xmlns:a="http://schemas.openxmlformats.org/drawingml/2006/main" noGrp="1"/>
          </p:cNvSpPr>
          <p:nvPr/>
        </p:nvSpPr>
        <p:spPr>
          <a:xfrm xmlns:a="http://schemas.openxmlformats.org/drawingml/2006/main">
            <a:off x="3876675" y="2914650"/>
            <a:ext cx="219075" cy="200025"/>
          </a:xfrm>
          <a:prstGeom xmlns:a="http://schemas.openxmlformats.org/drawingml/2006/main" prst="rightArrow">
            <a:avLst/>
          </a:prstGeom>
          <a:solidFill xmlns:a="http://schemas.openxmlformats.org/drawingml/2006/main">
            <a:srgbClr val="08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12F7556-771E-4D40-B1EF-EE2942DD0872}"/>
              </a:ext>
            </a:extLst>
          </p:cNvPr>
          <p:cNvSpPr>
            <a:spLocks xmlns:a="http://schemas.openxmlformats.org/drawingml/2006/main" noGrp="1"/>
          </p:cNvSpPr>
          <p:nvPr/>
        </p:nvSpPr>
        <p:spPr>
          <a:xfrm xmlns:a="http://schemas.openxmlformats.org/drawingml/2006/main">
            <a:off x="7191375" y="3000375"/>
            <a:ext cx="752475" cy="28575"/>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708D3BF-0BC2-4C42-BCC4-A5A800AA94A3}"/>
              </a:ext>
            </a:extLst>
          </p:cNvPr>
          <p:cNvSpPr>
            <a:spLocks xmlns:a="http://schemas.openxmlformats.org/drawingml/2006/main" noGrp="1"/>
          </p:cNvSpPr>
          <p:nvPr/>
        </p:nvSpPr>
        <p:spPr>
          <a:xfrm xmlns:a="http://schemas.openxmlformats.org/drawingml/2006/main">
            <a:off x="7924800" y="2914650"/>
            <a:ext cx="219075" cy="200025"/>
          </a:xfrm>
          <a:prstGeom xmlns:a="http://schemas.openxmlformats.org/drawingml/2006/main" prst="rightArrow">
            <a:avLst/>
          </a:prstGeom>
          <a:solidFill xmlns:a="http://schemas.openxmlformats.org/drawingml/2006/main">
            <a:srgbClr val="08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23FCD64-8EFC-448E-BD53-4ABBC7005333}"/>
              </a:ext>
            </a:extLst>
          </p:cNvPr>
          <p:cNvSpPr>
            <a:spLocks xmlns:a="http://schemas.openxmlformats.org/drawingml/2006/main" noGrp="1"/>
          </p:cNvSpPr>
          <p:nvPr/>
        </p:nvSpPr>
        <p:spPr>
          <a:xfrm xmlns:a="http://schemas.openxmlformats.org/drawingml/2006/main">
            <a:off x="7781925" y="4200525"/>
            <a:ext cx="3305175" cy="1114425"/>
          </a:xfrm>
          <a:prstGeom xmlns:a="http://schemas.openxmlformats.org/drawingml/2006/main" prst="roundRect">
            <a:avLst>
              <a:gd name="adj" fmla="val 6838"/>
            </a:avLst>
          </a:prstGeom>
          <a:solidFill xmlns:a="http://schemas.openxmlformats.org/drawingml/2006/main">
            <a:srgbClr val="D7EC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2F80F70-8A9C-4B72-B08D-F3179C0331D6}"/>
              </a:ext>
            </a:extLst>
          </p:cNvPr>
          <p:cNvSpPr>
            <a:spLocks xmlns:a="http://schemas.openxmlformats.org/drawingml/2006/main" noGrp="1"/>
          </p:cNvSpPr>
          <p:nvPr/>
        </p:nvSpPr>
        <p:spPr>
          <a:xfrm xmlns:a="http://schemas.openxmlformats.org/drawingml/2006/main">
            <a:off x="7991475" y="441007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9"/>
                </a:solidFill>
                <a:latin typeface="DejaVu Sans"/>
                <a:ea typeface="DejaVu Sans"/>
                <a:cs typeface="DejaVu Sans"/>
              </a:defRPr>
            </a:pPr>
            <a:r>
              <a:rPr sz="1875" b="1">
                <a:solidFill>
                  <a:srgbClr val="087F79"/>
                </a:solidFill>
                <a:latin typeface="DejaVu Sans"/>
                <a:ea typeface="DejaVu Sans"/>
                <a:cs typeface="DejaVu Sans"/>
              </a:rPr>
              <a:t>32-byte verifier</a:t>
            </a:r>
          </a:p>
        </p:txBody>
      </p:sp>
      <p:sp>
        <p:nvSpPr>
          <p:cNvPr id="21" name="">
            <a:extLst xmlns:a="http://schemas.openxmlformats.org/drawingml/2006/main">
              <a:ext uri="{FF2B5EF4-FFF2-40B4-BE49-F238E27FC236}">
                <a16:creationId xmlns:a16="http://schemas.microsoft.com/office/drawing/2014/main" id="{C9418D58-4737-45D1-A1F6-06BDC657F2E4}"/>
              </a:ext>
            </a:extLst>
          </p:cNvPr>
          <p:cNvSpPr>
            <a:spLocks xmlns:a="http://schemas.openxmlformats.org/drawingml/2006/main" noGrp="1"/>
          </p:cNvSpPr>
          <p:nvPr/>
        </p:nvSpPr>
        <p:spPr>
          <a:xfrm xmlns:a="http://schemas.openxmlformats.org/drawingml/2006/main">
            <a:off x="7991475" y="4857750"/>
            <a:ext cx="3000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D73"/>
                </a:solidFill>
                <a:latin typeface="DejaVu Sans"/>
                <a:ea typeface="DejaVu Sans"/>
                <a:cs typeface="DejaVu Sans"/>
              </a:defRPr>
            </a:pPr>
            <a:r>
              <a:rPr sz="1425" b="0">
                <a:solidFill>
                  <a:srgbClr val="596D73"/>
                </a:solidFill>
                <a:latin typeface="DejaVu Sans"/>
                <a:ea typeface="DejaVu Sans"/>
                <a:cs typeface="DejaVu Sans"/>
              </a:rPr>
              <a:t>stored with the salt</a:t>
            </a:r>
          </a:p>
        </p:txBody>
      </p:sp>
      <p:sp>
        <p:nvSpPr>
          <p:cNvPr id="22" name="">
            <a:extLst xmlns:a="http://schemas.openxmlformats.org/drawingml/2006/main">
              <a:ext uri="{FF2B5EF4-FFF2-40B4-BE49-F238E27FC236}">
                <a16:creationId xmlns:a16="http://schemas.microsoft.com/office/drawing/2014/main" id="{C2766915-D1EE-46FA-B102-1602EF85E506}"/>
              </a:ext>
            </a:extLst>
          </p:cNvPr>
          <p:cNvSpPr>
            <a:spLocks xmlns:a="http://schemas.openxmlformats.org/drawingml/2006/main" noGrp="1"/>
          </p:cNvSpPr>
          <p:nvPr/>
        </p:nvSpPr>
        <p:spPr>
          <a:xfrm xmlns:a="http://schemas.openxmlformats.org/drawingml/2006/main">
            <a:off x="714375" y="4638675"/>
            <a:ext cx="6819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C3B"/>
                </a:solidFill>
                <a:latin typeface="DejaVu Sans"/>
                <a:ea typeface="DejaVu Sans"/>
                <a:cs typeface="DejaVu Sans"/>
              </a:defRPr>
            </a:pPr>
            <a:r>
              <a:rPr sz="1575" b="1">
                <a:solidFill>
                  <a:srgbClr val="132C3B"/>
                </a:solidFill>
                <a:latin typeface="DejaVu Sans"/>
                <a:ea typeface="DejaVu Sans"/>
                <a:cs typeface="DejaVu Sans"/>
              </a:rPr>
              <a:t>16-byte salt   ·   128 MiB   ·   3 iterations   ·   1 lane</a:t>
            </a:r>
          </a:p>
        </p:txBody>
      </p:sp>
    </p:spTree>
    <p:extLst>
      <p:ext uri="{BB962C8B-B14F-4D97-AF65-F5344CB8AC3E}">
        <p14:creationId xmlns:p14="http://schemas.microsoft.com/office/powerpoint/2010/main" val="2111851338"/>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741D244-618E-4FFA-B5B5-9076CA9D4F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3AF206-6138-422C-923A-2A107CEC2FF6}"/>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7.1  KEY STORAGE</a:t>
            </a:r>
          </a:p>
        </p:txBody>
      </p:sp>
      <p:sp>
        <p:nvSpPr>
          <p:cNvPr id="3" name="">
            <a:extLst xmlns:a="http://schemas.openxmlformats.org/drawingml/2006/main">
              <a:ext uri="{FF2B5EF4-FFF2-40B4-BE49-F238E27FC236}">
                <a16:creationId xmlns:a16="http://schemas.microsoft.com/office/drawing/2014/main" id="{C9A53796-771E-47B6-AD9F-7A959032F1AA}"/>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The password also protects private keys</a:t>
            </a:r>
          </a:p>
        </p:txBody>
      </p:sp>
      <p:sp>
        <p:nvSpPr>
          <p:cNvPr id="4" name="">
            <a:extLst xmlns:a="http://schemas.openxmlformats.org/drawingml/2006/main">
              <a:ext uri="{FF2B5EF4-FFF2-40B4-BE49-F238E27FC236}">
                <a16:creationId xmlns:a16="http://schemas.microsoft.com/office/drawing/2014/main" id="{32F686CD-4BC4-4387-9F56-DBC2418DAD60}"/>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C97BA5-E3F8-40C8-AB8F-25764BFD9043}"/>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06 / 17</a:t>
            </a:r>
          </a:p>
        </p:txBody>
      </p:sp>
      <p:sp>
        <p:nvSpPr>
          <p:cNvPr id="6" name="">
            <a:extLst xmlns:a="http://schemas.openxmlformats.org/drawingml/2006/main">
              <a:ext uri="{FF2B5EF4-FFF2-40B4-BE49-F238E27FC236}">
                <a16:creationId xmlns:a16="http://schemas.microsoft.com/office/drawing/2014/main" id="{7DF43581-6BB0-4AEF-A800-ED15DEE4CE6E}"/>
              </a:ext>
            </a:extLst>
          </p:cNvPr>
          <p:cNvSpPr>
            <a:spLocks xmlns:a="http://schemas.openxmlformats.org/drawingml/2006/main" noGrp="1"/>
          </p:cNvSpPr>
          <p:nvPr/>
        </p:nvSpPr>
        <p:spPr>
          <a:xfrm xmlns:a="http://schemas.openxmlformats.org/drawingml/2006/main">
            <a:off x="714375" y="2114550"/>
            <a:ext cx="4857750" cy="3371850"/>
          </a:xfrm>
          <a:prstGeom xmlns:a="http://schemas.openxmlformats.org/drawingml/2006/main" prst="roundRect">
            <a:avLst>
              <a:gd name="adj" fmla="val 2260"/>
            </a:avLst>
          </a:prstGeom>
          <a:solidFill xmlns:a="http://schemas.openxmlformats.org/drawingml/2006/main">
            <a:srgbClr val="E8F2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FD2E33-C590-4194-A294-A53364255110}"/>
              </a:ext>
            </a:extLst>
          </p:cNvPr>
          <p:cNvSpPr>
            <a:spLocks xmlns:a="http://schemas.openxmlformats.org/drawingml/2006/main" noGrp="1"/>
          </p:cNvSpPr>
          <p:nvPr/>
        </p:nvSpPr>
        <p:spPr>
          <a:xfrm xmlns:a="http://schemas.openxmlformats.org/drawingml/2006/main">
            <a:off x="6629400" y="2114550"/>
            <a:ext cx="4857750" cy="3371850"/>
          </a:xfrm>
          <a:prstGeom xmlns:a="http://schemas.openxmlformats.org/drawingml/2006/main" prst="roundRect">
            <a:avLst>
              <a:gd name="adj" fmla="val 2260"/>
            </a:avLst>
          </a:prstGeom>
          <a:solidFill xmlns:a="http://schemas.openxmlformats.org/drawingml/2006/main">
            <a:srgbClr val="F2E7D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EE79A76-A01E-438F-A7F0-77FEF3872C5C}"/>
              </a:ext>
            </a:extLst>
          </p:cNvPr>
          <p:cNvSpPr>
            <a:spLocks xmlns:a="http://schemas.openxmlformats.org/drawingml/2006/main" noGrp="1"/>
          </p:cNvSpPr>
          <p:nvPr/>
        </p:nvSpPr>
        <p:spPr>
          <a:xfrm xmlns:a="http://schemas.openxmlformats.org/drawingml/2006/main">
            <a:off x="990600" y="2457450"/>
            <a:ext cx="423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79"/>
                </a:solidFill>
                <a:latin typeface="DejaVu Sans"/>
                <a:ea typeface="DejaVu Sans"/>
                <a:cs typeface="DejaVu Sans"/>
              </a:defRPr>
            </a:pPr>
            <a:r>
              <a:rPr sz="2100" b="1">
                <a:solidFill>
                  <a:srgbClr val="087F79"/>
                </a:solidFill>
                <a:latin typeface="DejaVu Sans"/>
                <a:ea typeface="DejaVu Sans"/>
                <a:cs typeface="DejaVu Sans"/>
              </a:rPr>
              <a:t>ECDH private key</a:t>
            </a:r>
          </a:p>
        </p:txBody>
      </p:sp>
      <p:sp>
        <p:nvSpPr>
          <p:cNvPr id="9" name="">
            <a:extLst xmlns:a="http://schemas.openxmlformats.org/drawingml/2006/main">
              <a:ext uri="{FF2B5EF4-FFF2-40B4-BE49-F238E27FC236}">
                <a16:creationId xmlns:a16="http://schemas.microsoft.com/office/drawing/2014/main" id="{CA7A325D-F26C-421B-A8EA-10DD0DA0C005}"/>
              </a:ext>
            </a:extLst>
          </p:cNvPr>
          <p:cNvSpPr>
            <a:spLocks xmlns:a="http://schemas.openxmlformats.org/drawingml/2006/main" noGrp="1"/>
          </p:cNvSpPr>
          <p:nvPr/>
        </p:nvSpPr>
        <p:spPr>
          <a:xfrm xmlns:a="http://schemas.openxmlformats.org/drawingml/2006/main">
            <a:off x="990600" y="3000375"/>
            <a:ext cx="42005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agreement for sharing</a:t>
            </a:r>
          </a:p>
        </p:txBody>
      </p:sp>
      <p:sp>
        <p:nvSpPr>
          <p:cNvPr id="10" name="">
            <a:extLst xmlns:a="http://schemas.openxmlformats.org/drawingml/2006/main">
              <a:ext uri="{FF2B5EF4-FFF2-40B4-BE49-F238E27FC236}">
                <a16:creationId xmlns:a16="http://schemas.microsoft.com/office/drawing/2014/main" id="{EBB30D99-D71A-48A4-8880-7C2053F49499}"/>
              </a:ext>
            </a:extLst>
          </p:cNvPr>
          <p:cNvSpPr>
            <a:spLocks xmlns:a="http://schemas.openxmlformats.org/drawingml/2006/main" noGrp="1"/>
          </p:cNvSpPr>
          <p:nvPr/>
        </p:nvSpPr>
        <p:spPr>
          <a:xfrm xmlns:a="http://schemas.openxmlformats.org/drawingml/2006/main">
            <a:off x="990600" y="3743325"/>
            <a:ext cx="4200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C3B"/>
                </a:solidFill>
                <a:latin typeface="DejaVu Sans"/>
                <a:ea typeface="DejaVu Sans"/>
                <a:cs typeface="DejaVu Sans"/>
              </a:defRPr>
            </a:pPr>
            <a:r>
              <a:rPr sz="1725" b="1">
                <a:solidFill>
                  <a:srgbClr val="132C3B"/>
                </a:solidFill>
                <a:latin typeface="DejaVu Sans"/>
                <a:ea typeface="DejaVu Sans"/>
                <a:cs typeface="DejaVu Sans"/>
              </a:rPr>
              <a:t>new salt + Argon2id</a:t>
            </a:r>
          </a:p>
        </p:txBody>
      </p:sp>
      <p:sp>
        <p:nvSpPr>
          <p:cNvPr id="11" name="">
            <a:extLst xmlns:a="http://schemas.openxmlformats.org/drawingml/2006/main">
              <a:ext uri="{FF2B5EF4-FFF2-40B4-BE49-F238E27FC236}">
                <a16:creationId xmlns:a16="http://schemas.microsoft.com/office/drawing/2014/main" id="{07A2FC0B-4C91-4F2E-AEED-FDAC646942E0}"/>
              </a:ext>
            </a:extLst>
          </p:cNvPr>
          <p:cNvSpPr>
            <a:spLocks xmlns:a="http://schemas.openxmlformats.org/drawingml/2006/main" noGrp="1"/>
          </p:cNvSpPr>
          <p:nvPr/>
        </p:nvSpPr>
        <p:spPr>
          <a:xfrm xmlns:a="http://schemas.openxmlformats.org/drawingml/2006/main">
            <a:off x="990600" y="4438650"/>
            <a:ext cx="421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AES-128-GCM encryption</a:t>
            </a:r>
          </a:p>
        </p:txBody>
      </p:sp>
      <p:sp>
        <p:nvSpPr>
          <p:cNvPr id="12" name="">
            <a:extLst xmlns:a="http://schemas.openxmlformats.org/drawingml/2006/main">
              <a:ext uri="{FF2B5EF4-FFF2-40B4-BE49-F238E27FC236}">
                <a16:creationId xmlns:a16="http://schemas.microsoft.com/office/drawing/2014/main" id="{5E61BE78-7F30-4FA7-945D-892A163569BC}"/>
              </a:ext>
            </a:extLst>
          </p:cNvPr>
          <p:cNvSpPr>
            <a:spLocks xmlns:a="http://schemas.openxmlformats.org/drawingml/2006/main" noGrp="1"/>
          </p:cNvSpPr>
          <p:nvPr/>
        </p:nvSpPr>
        <p:spPr>
          <a:xfrm xmlns:a="http://schemas.openxmlformats.org/drawingml/2006/main">
            <a:off x="6943725" y="2457450"/>
            <a:ext cx="4162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79"/>
                </a:solidFill>
                <a:latin typeface="DejaVu Sans"/>
                <a:ea typeface="DejaVu Sans"/>
                <a:cs typeface="DejaVu Sans"/>
              </a:defRPr>
            </a:pPr>
            <a:r>
              <a:rPr sz="2100" b="1">
                <a:solidFill>
                  <a:srgbClr val="087F79"/>
                </a:solidFill>
                <a:latin typeface="DejaVu Sans"/>
                <a:ea typeface="DejaVu Sans"/>
                <a:cs typeface="DejaVu Sans"/>
              </a:rPr>
              <a:t>ECDSA private key</a:t>
            </a:r>
          </a:p>
        </p:txBody>
      </p:sp>
      <p:sp>
        <p:nvSpPr>
          <p:cNvPr id="13" name="">
            <a:extLst xmlns:a="http://schemas.openxmlformats.org/drawingml/2006/main">
              <a:ext uri="{FF2B5EF4-FFF2-40B4-BE49-F238E27FC236}">
                <a16:creationId xmlns:a16="http://schemas.microsoft.com/office/drawing/2014/main" id="{2AC76BD3-E38A-4F5E-8CAB-B81DA25C47F3}"/>
              </a:ext>
            </a:extLst>
          </p:cNvPr>
          <p:cNvSpPr>
            <a:spLocks xmlns:a="http://schemas.openxmlformats.org/drawingml/2006/main" noGrp="1"/>
          </p:cNvSpPr>
          <p:nvPr/>
        </p:nvSpPr>
        <p:spPr>
          <a:xfrm xmlns:a="http://schemas.openxmlformats.org/drawingml/2006/main">
            <a:off x="6943725" y="3000375"/>
            <a:ext cx="4171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signatures</a:t>
            </a:r>
          </a:p>
        </p:txBody>
      </p:sp>
      <p:sp>
        <p:nvSpPr>
          <p:cNvPr id="14" name="">
            <a:extLst xmlns:a="http://schemas.openxmlformats.org/drawingml/2006/main">
              <a:ext uri="{FF2B5EF4-FFF2-40B4-BE49-F238E27FC236}">
                <a16:creationId xmlns:a16="http://schemas.microsoft.com/office/drawing/2014/main" id="{B575BE3F-2E1D-4763-BE41-86E349EAA1FD}"/>
              </a:ext>
            </a:extLst>
          </p:cNvPr>
          <p:cNvSpPr>
            <a:spLocks xmlns:a="http://schemas.openxmlformats.org/drawingml/2006/main" noGrp="1"/>
          </p:cNvSpPr>
          <p:nvPr/>
        </p:nvSpPr>
        <p:spPr>
          <a:xfrm xmlns:a="http://schemas.openxmlformats.org/drawingml/2006/main">
            <a:off x="6943725" y="3743325"/>
            <a:ext cx="4162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C3B"/>
                </a:solidFill>
                <a:latin typeface="DejaVu Sans"/>
                <a:ea typeface="DejaVu Sans"/>
                <a:cs typeface="DejaVu Sans"/>
              </a:defRPr>
            </a:pPr>
            <a:r>
              <a:rPr sz="1725" b="1">
                <a:solidFill>
                  <a:srgbClr val="132C3B"/>
                </a:solidFill>
                <a:latin typeface="DejaVu Sans"/>
                <a:ea typeface="DejaVu Sans"/>
                <a:cs typeface="DejaVu Sans"/>
              </a:rPr>
              <a:t>separate salt + Argon2id</a:t>
            </a:r>
          </a:p>
        </p:txBody>
      </p:sp>
      <p:sp>
        <p:nvSpPr>
          <p:cNvPr id="15" name="">
            <a:extLst xmlns:a="http://schemas.openxmlformats.org/drawingml/2006/main">
              <a:ext uri="{FF2B5EF4-FFF2-40B4-BE49-F238E27FC236}">
                <a16:creationId xmlns:a16="http://schemas.microsoft.com/office/drawing/2014/main" id="{2ED9D936-A8A0-45B0-8465-0C25A00BB59D}"/>
              </a:ext>
            </a:extLst>
          </p:cNvPr>
          <p:cNvSpPr>
            <a:spLocks xmlns:a="http://schemas.openxmlformats.org/drawingml/2006/main" noGrp="1"/>
          </p:cNvSpPr>
          <p:nvPr/>
        </p:nvSpPr>
        <p:spPr>
          <a:xfrm xmlns:a="http://schemas.openxmlformats.org/drawingml/2006/main">
            <a:off x="6943725" y="4438650"/>
            <a:ext cx="4200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AES-128-GCM encryption</a:t>
            </a:r>
          </a:p>
        </p:txBody>
      </p:sp>
      <p:sp>
        <p:nvSpPr>
          <p:cNvPr id="16" name="">
            <a:extLst xmlns:a="http://schemas.openxmlformats.org/drawingml/2006/main">
              <a:ext uri="{FF2B5EF4-FFF2-40B4-BE49-F238E27FC236}">
                <a16:creationId xmlns:a16="http://schemas.microsoft.com/office/drawing/2014/main" id="{67668E61-EA8A-4CCA-A2D9-985CF8A90CD4}"/>
              </a:ext>
            </a:extLst>
          </p:cNvPr>
          <p:cNvSpPr>
            <a:spLocks xmlns:a="http://schemas.openxmlformats.org/drawingml/2006/main" noGrp="1"/>
          </p:cNvSpPr>
          <p:nvPr/>
        </p:nvSpPr>
        <p:spPr>
          <a:xfrm xmlns:a="http://schemas.openxmlformats.org/drawingml/2006/main">
            <a:off x="733425" y="58864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C3B"/>
                </a:solidFill>
                <a:latin typeface="DejaVu Sans"/>
                <a:ea typeface="DejaVu Sans"/>
                <a:cs typeface="DejaVu Sans"/>
              </a:defRPr>
            </a:pPr>
            <a:r>
              <a:rPr sz="1650" b="1">
                <a:solidFill>
                  <a:srgbClr val="132C3B"/>
                </a:solidFill>
                <a:latin typeface="DejaVu Sans"/>
                <a:ea typeface="DejaVu Sans"/>
                <a:cs typeface="DejaVu Sans"/>
              </a:rPr>
              <a:t>The server stores encrypted key objects. Login recovers the keys on the client.</a:t>
            </a:r>
          </a:p>
        </p:txBody>
      </p:sp>
    </p:spTree>
    <p:extLst>
      <p:ext uri="{BB962C8B-B14F-4D97-AF65-F5344CB8AC3E}">
        <p14:creationId xmlns:p14="http://schemas.microsoft.com/office/powerpoint/2010/main" val="927705045"/>
      </p:ext>
    </p:extLst>
  </p:cSld>
</p:sld>
</file>

<file path=ppt/slides/slide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8C5EB7F-82FD-448D-ADDF-5CA0ADA5593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DAE4A2-1716-4215-BAE7-3BC83121A76C}"/>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IDENTITY</a:t>
            </a:r>
          </a:p>
        </p:txBody>
      </p:sp>
      <p:sp>
        <p:nvSpPr>
          <p:cNvPr id="3" name="">
            <a:extLst xmlns:a="http://schemas.openxmlformats.org/drawingml/2006/main">
              <a:ext uri="{FF2B5EF4-FFF2-40B4-BE49-F238E27FC236}">
                <a16:creationId xmlns:a16="http://schemas.microsoft.com/office/drawing/2014/main" id="{8DCC554C-3B48-4B09-880A-EEA05B1097A3}"/>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Certificates make public keys trustworthy</a:t>
            </a:r>
          </a:p>
        </p:txBody>
      </p:sp>
      <p:sp>
        <p:nvSpPr>
          <p:cNvPr id="4" name="">
            <a:extLst xmlns:a="http://schemas.openxmlformats.org/drawingml/2006/main">
              <a:ext uri="{FF2B5EF4-FFF2-40B4-BE49-F238E27FC236}">
                <a16:creationId xmlns:a16="http://schemas.microsoft.com/office/drawing/2014/main" id="{B55DCB3B-C159-4303-8798-1DDBCBF83B27}"/>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CF3F3A-AE19-4A68-8EF3-AAB83ABB42C7}"/>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07 / 17</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03f01fdf04341d0"/>
          <a:srcRect xmlns:a="http://schemas.openxmlformats.org/drawingml/2006/main" l="0" t="4057" r="0" b="4057"/>
          <a:stretch xmlns:a="http://schemas.openxmlformats.org/drawingml/2006/main">
            <a:fillRect l="0" t="0" r="0" b="0"/>
          </a:stretch>
        </p:blipFill>
        <p:spPr>
          <a:xfrm xmlns:a="http://schemas.openxmlformats.org/drawingml/2006/main">
            <a:off x="5629275" y="2200275"/>
            <a:ext cx="5838825" cy="30194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51565C-AB4C-496A-93F4-30DA90C73DDD}"/>
              </a:ext>
            </a:extLst>
          </p:cNvPr>
          <p:cNvSpPr>
            <a:spLocks xmlns:a="http://schemas.openxmlformats.org/drawingml/2006/main" noGrp="1"/>
          </p:cNvSpPr>
          <p:nvPr/>
        </p:nvSpPr>
        <p:spPr>
          <a:xfrm xmlns:a="http://schemas.openxmlformats.org/drawingml/2006/main">
            <a:off x="771525" y="230505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1  Request</a:t>
            </a:r>
          </a:p>
        </p:txBody>
      </p:sp>
      <p:sp>
        <p:nvSpPr>
          <p:cNvPr id="8" name="">
            <a:extLst xmlns:a="http://schemas.openxmlformats.org/drawingml/2006/main">
              <a:ext uri="{FF2B5EF4-FFF2-40B4-BE49-F238E27FC236}">
                <a16:creationId xmlns:a16="http://schemas.microsoft.com/office/drawing/2014/main" id="{265A5540-7335-4AC1-8DF7-ACAAA547536D}"/>
              </a:ext>
            </a:extLst>
          </p:cNvPr>
          <p:cNvSpPr>
            <a:spLocks xmlns:a="http://schemas.openxmlformats.org/drawingml/2006/main" noGrp="1"/>
          </p:cNvSpPr>
          <p:nvPr/>
        </p:nvSpPr>
        <p:spPr>
          <a:xfrm xmlns:a="http://schemas.openxmlformats.org/drawingml/2006/main">
            <a:off x="771525" y="2752725"/>
            <a:ext cx="4524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User signs an enrollment request</a:t>
            </a:r>
          </a:p>
        </p:txBody>
      </p:sp>
      <p:sp>
        <p:nvSpPr>
          <p:cNvPr id="9" name="">
            <a:extLst xmlns:a="http://schemas.openxmlformats.org/drawingml/2006/main">
              <a:ext uri="{FF2B5EF4-FFF2-40B4-BE49-F238E27FC236}">
                <a16:creationId xmlns:a16="http://schemas.microsoft.com/office/drawing/2014/main" id="{6712D348-2870-4D8C-9B14-F2F2483D82A2}"/>
              </a:ext>
            </a:extLst>
          </p:cNvPr>
          <p:cNvSpPr>
            <a:spLocks xmlns:a="http://schemas.openxmlformats.org/drawingml/2006/main" noGrp="1"/>
          </p:cNvSpPr>
          <p:nvPr/>
        </p:nvSpPr>
        <p:spPr>
          <a:xfrm xmlns:a="http://schemas.openxmlformats.org/drawingml/2006/main">
            <a:off x="771525" y="3495675"/>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2  Issue</a:t>
            </a:r>
          </a:p>
        </p:txBody>
      </p:sp>
      <p:sp>
        <p:nvSpPr>
          <p:cNvPr id="10" name="">
            <a:extLst xmlns:a="http://schemas.openxmlformats.org/drawingml/2006/main">
              <a:ext uri="{FF2B5EF4-FFF2-40B4-BE49-F238E27FC236}">
                <a16:creationId xmlns:a16="http://schemas.microsoft.com/office/drawing/2014/main" id="{CA4EF282-703C-47D2-B290-6187D9C978FD}"/>
              </a:ext>
            </a:extLst>
          </p:cNvPr>
          <p:cNvSpPr>
            <a:spLocks xmlns:a="http://schemas.openxmlformats.org/drawingml/2006/main" noGrp="1"/>
          </p:cNvSpPr>
          <p:nvPr/>
        </p:nvSpPr>
        <p:spPr>
          <a:xfrm xmlns:a="http://schemas.openxmlformats.org/drawingml/2006/main">
            <a:off x="771525" y="3943350"/>
            <a:ext cx="4524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CA checks identity and key fingerprints</a:t>
            </a:r>
          </a:p>
        </p:txBody>
      </p:sp>
      <p:sp>
        <p:nvSpPr>
          <p:cNvPr id="11" name="">
            <a:extLst xmlns:a="http://schemas.openxmlformats.org/drawingml/2006/main">
              <a:ext uri="{FF2B5EF4-FFF2-40B4-BE49-F238E27FC236}">
                <a16:creationId xmlns:a16="http://schemas.microsoft.com/office/drawing/2014/main" id="{DF14BFB0-E1D1-4DB6-A7D2-74577FBD9955}"/>
              </a:ext>
            </a:extLst>
          </p:cNvPr>
          <p:cNvSpPr>
            <a:spLocks xmlns:a="http://schemas.openxmlformats.org/drawingml/2006/main" noGrp="1"/>
          </p:cNvSpPr>
          <p:nvPr/>
        </p:nvSpPr>
        <p:spPr>
          <a:xfrm xmlns:a="http://schemas.openxmlformats.org/drawingml/2006/main">
            <a:off x="771525" y="478155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3  Verify</a:t>
            </a:r>
          </a:p>
        </p:txBody>
      </p:sp>
      <p:sp>
        <p:nvSpPr>
          <p:cNvPr id="12" name="">
            <a:extLst xmlns:a="http://schemas.openxmlformats.org/drawingml/2006/main">
              <a:ext uri="{FF2B5EF4-FFF2-40B4-BE49-F238E27FC236}">
                <a16:creationId xmlns:a16="http://schemas.microsoft.com/office/drawing/2014/main" id="{47DDD104-4189-4132-B0F6-8D9457D08E76}"/>
              </a:ext>
            </a:extLst>
          </p:cNvPr>
          <p:cNvSpPr>
            <a:spLocks xmlns:a="http://schemas.openxmlformats.org/drawingml/2006/main" noGrp="1"/>
          </p:cNvSpPr>
          <p:nvPr/>
        </p:nvSpPr>
        <p:spPr>
          <a:xfrm xmlns:a="http://schemas.openxmlformats.org/drawingml/2006/main">
            <a:off x="771525" y="5229225"/>
            <a:ext cx="4524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D73"/>
                </a:solidFill>
                <a:latin typeface="DejaVu Sans"/>
                <a:ea typeface="DejaVu Sans"/>
                <a:cs typeface="DejaVu Sans"/>
              </a:defRPr>
            </a:pPr>
            <a:r>
              <a:rPr sz="1500" b="0">
                <a:solidFill>
                  <a:srgbClr val="596D73"/>
                </a:solidFill>
                <a:latin typeface="DejaVu Sans"/>
                <a:ea typeface="DejaVu Sans"/>
                <a:cs typeface="DejaVu Sans"/>
              </a:rPr>
              <a:t>Client checks CA signature, username, validity and both keys</a:t>
            </a:r>
          </a:p>
        </p:txBody>
      </p:sp>
    </p:spTree>
    <p:extLst>
      <p:ext uri="{BB962C8B-B14F-4D97-AF65-F5344CB8AC3E}">
        <p14:creationId xmlns:p14="http://schemas.microsoft.com/office/powerpoint/2010/main" val="1124790546"/>
      </p:ext>
    </p:extLst>
  </p:cSld>
</p:sld>
</file>

<file path=ppt/slides/slide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231F931-EAFC-4972-BC58-B55467FAB98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FF06AB-64E7-4CA7-8652-438E4875DF70}"/>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DOCUMENT LIFECYCLE</a:t>
            </a:r>
          </a:p>
        </p:txBody>
      </p:sp>
      <p:sp>
        <p:nvSpPr>
          <p:cNvPr id="3" name="">
            <a:extLst xmlns:a="http://schemas.openxmlformats.org/drawingml/2006/main">
              <a:ext uri="{FF2B5EF4-FFF2-40B4-BE49-F238E27FC236}">
                <a16:creationId xmlns:a16="http://schemas.microsoft.com/office/drawing/2014/main" id="{CCFFD974-A8D7-4551-A209-352F92AA75E2}"/>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Upload: protect before sending</a:t>
            </a:r>
          </a:p>
        </p:txBody>
      </p:sp>
      <p:sp>
        <p:nvSpPr>
          <p:cNvPr id="4" name="">
            <a:extLst xmlns:a="http://schemas.openxmlformats.org/drawingml/2006/main">
              <a:ext uri="{FF2B5EF4-FFF2-40B4-BE49-F238E27FC236}">
                <a16:creationId xmlns:a16="http://schemas.microsoft.com/office/drawing/2014/main" id="{4E0E474E-6E7B-4266-B9D2-49001B0BA8D7}"/>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084FCA-635F-4530-9BD1-16B5EED9723B}"/>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08 / 17</a:t>
            </a:r>
          </a:p>
        </p:txBody>
      </p:sp>
      <p:sp>
        <p:nvSpPr>
          <p:cNvPr id="6" name="">
            <a:extLst xmlns:a="http://schemas.openxmlformats.org/drawingml/2006/main">
              <a:ext uri="{FF2B5EF4-FFF2-40B4-BE49-F238E27FC236}">
                <a16:creationId xmlns:a16="http://schemas.microsoft.com/office/drawing/2014/main" id="{768861AF-1531-43EF-9F71-EBAE447E54B4}"/>
              </a:ext>
            </a:extLst>
          </p:cNvPr>
          <p:cNvSpPr>
            <a:spLocks xmlns:a="http://schemas.openxmlformats.org/drawingml/2006/main" noGrp="1"/>
          </p:cNvSpPr>
          <p:nvPr/>
        </p:nvSpPr>
        <p:spPr>
          <a:xfrm xmlns:a="http://schemas.openxmlformats.org/drawingml/2006/main">
            <a:off x="714375" y="26289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6B9127F-0746-4CBD-A6DC-E14D1205D180}"/>
              </a:ext>
            </a:extLst>
          </p:cNvPr>
          <p:cNvSpPr>
            <a:spLocks xmlns:a="http://schemas.openxmlformats.org/drawingml/2006/main" noGrp="1"/>
          </p:cNvSpPr>
          <p:nvPr/>
        </p:nvSpPr>
        <p:spPr>
          <a:xfrm xmlns:a="http://schemas.openxmlformats.org/drawingml/2006/main">
            <a:off x="876300" y="27051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2B5B1753-24EA-41F2-B480-D78D90ADC7E7}"/>
              </a:ext>
            </a:extLst>
          </p:cNvPr>
          <p:cNvSpPr>
            <a:spLocks xmlns:a="http://schemas.openxmlformats.org/drawingml/2006/main" noGrp="1"/>
          </p:cNvSpPr>
          <p:nvPr/>
        </p:nvSpPr>
        <p:spPr>
          <a:xfrm xmlns:a="http://schemas.openxmlformats.org/drawingml/2006/main">
            <a:off x="714375" y="3390900"/>
            <a:ext cx="2495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Prepare</a:t>
            </a:r>
          </a:p>
        </p:txBody>
      </p:sp>
      <p:sp>
        <p:nvSpPr>
          <p:cNvPr id="9" name="">
            <a:extLst xmlns:a="http://schemas.openxmlformats.org/drawingml/2006/main">
              <a:ext uri="{FF2B5EF4-FFF2-40B4-BE49-F238E27FC236}">
                <a16:creationId xmlns:a16="http://schemas.microsoft.com/office/drawing/2014/main" id="{09481ABC-BF11-4312-A217-213B947431C8}"/>
              </a:ext>
            </a:extLst>
          </p:cNvPr>
          <p:cNvSpPr>
            <a:spLocks xmlns:a="http://schemas.openxmlformats.org/drawingml/2006/main" noGrp="1"/>
          </p:cNvSpPr>
          <p:nvPr/>
        </p:nvSpPr>
        <p:spPr>
          <a:xfrm xmlns:a="http://schemas.openxmlformats.org/drawingml/2006/main">
            <a:off x="714375" y="3943350"/>
            <a:ext cx="2495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ID, owner, version, size, time</a:t>
            </a:r>
          </a:p>
        </p:txBody>
      </p:sp>
      <p:sp>
        <p:nvSpPr>
          <p:cNvPr id="10" name="">
            <a:extLst xmlns:a="http://schemas.openxmlformats.org/drawingml/2006/main">
              <a:ext uri="{FF2B5EF4-FFF2-40B4-BE49-F238E27FC236}">
                <a16:creationId xmlns:a16="http://schemas.microsoft.com/office/drawing/2014/main" id="{7F11A01F-BB22-41B3-8B4D-54AE558808AF}"/>
              </a:ext>
            </a:extLst>
          </p:cNvPr>
          <p:cNvSpPr>
            <a:spLocks xmlns:a="http://schemas.openxmlformats.org/drawingml/2006/main" noGrp="1"/>
          </p:cNvSpPr>
          <p:nvPr/>
        </p:nvSpPr>
        <p:spPr>
          <a:xfrm xmlns:a="http://schemas.openxmlformats.org/drawingml/2006/main">
            <a:off x="2333625" y="2895600"/>
            <a:ext cx="76200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83A986-F7D5-405F-B5B1-0BB42E72B4E9}"/>
              </a:ext>
            </a:extLst>
          </p:cNvPr>
          <p:cNvSpPr>
            <a:spLocks xmlns:a="http://schemas.openxmlformats.org/drawingml/2006/main" noGrp="1"/>
          </p:cNvSpPr>
          <p:nvPr/>
        </p:nvSpPr>
        <p:spPr>
          <a:xfrm xmlns:a="http://schemas.openxmlformats.org/drawingml/2006/main">
            <a:off x="3076575" y="2809875"/>
            <a:ext cx="219075" cy="200025"/>
          </a:xfrm>
          <a:prstGeom xmlns:a="http://schemas.openxmlformats.org/drawingml/2006/main" prst="rightArrow">
            <a:avLst/>
          </a:prstGeom>
          <a:solidFill xmlns:a="http://schemas.openxmlformats.org/drawingml/2006/main">
            <a:srgbClr val="63B4A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063D52B-D810-4EDE-B17D-3D3B093BE450}"/>
              </a:ext>
            </a:extLst>
          </p:cNvPr>
          <p:cNvSpPr>
            <a:spLocks xmlns:a="http://schemas.openxmlformats.org/drawingml/2006/main" noGrp="1"/>
          </p:cNvSpPr>
          <p:nvPr/>
        </p:nvSpPr>
        <p:spPr>
          <a:xfrm xmlns:a="http://schemas.openxmlformats.org/drawingml/2006/main">
            <a:off x="3524250" y="26289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113A753-A9D1-4217-81FC-8B0754973BFA}"/>
              </a:ext>
            </a:extLst>
          </p:cNvPr>
          <p:cNvSpPr>
            <a:spLocks xmlns:a="http://schemas.openxmlformats.org/drawingml/2006/main" noGrp="1"/>
          </p:cNvSpPr>
          <p:nvPr/>
        </p:nvSpPr>
        <p:spPr>
          <a:xfrm xmlns:a="http://schemas.openxmlformats.org/drawingml/2006/main">
            <a:off x="3686175" y="27051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2</a:t>
            </a:r>
          </a:p>
        </p:txBody>
      </p:sp>
      <p:sp>
        <p:nvSpPr>
          <p:cNvPr id="14" name="">
            <a:extLst xmlns:a="http://schemas.openxmlformats.org/drawingml/2006/main">
              <a:ext uri="{FF2B5EF4-FFF2-40B4-BE49-F238E27FC236}">
                <a16:creationId xmlns:a16="http://schemas.microsoft.com/office/drawing/2014/main" id="{B3EF88EE-63D4-423F-857F-BE3042A4DC63}"/>
              </a:ext>
            </a:extLst>
          </p:cNvPr>
          <p:cNvSpPr>
            <a:spLocks xmlns:a="http://schemas.openxmlformats.org/drawingml/2006/main" noGrp="1"/>
          </p:cNvSpPr>
          <p:nvPr/>
        </p:nvSpPr>
        <p:spPr>
          <a:xfrm xmlns:a="http://schemas.openxmlformats.org/drawingml/2006/main">
            <a:off x="3524250" y="3390900"/>
            <a:ext cx="2495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Generate</a:t>
            </a:r>
          </a:p>
        </p:txBody>
      </p:sp>
      <p:sp>
        <p:nvSpPr>
          <p:cNvPr id="15" name="">
            <a:extLst xmlns:a="http://schemas.openxmlformats.org/drawingml/2006/main">
              <a:ext uri="{FF2B5EF4-FFF2-40B4-BE49-F238E27FC236}">
                <a16:creationId xmlns:a16="http://schemas.microsoft.com/office/drawing/2014/main" id="{86E133B6-ED96-48BE-B667-C643A8ED5330}"/>
              </a:ext>
            </a:extLst>
          </p:cNvPr>
          <p:cNvSpPr>
            <a:spLocks xmlns:a="http://schemas.openxmlformats.org/drawingml/2006/main" noGrp="1"/>
          </p:cNvSpPr>
          <p:nvPr/>
        </p:nvSpPr>
        <p:spPr>
          <a:xfrm xmlns:a="http://schemas.openxmlformats.org/drawingml/2006/main">
            <a:off x="3524250" y="3943350"/>
            <a:ext cx="2495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fresh 16-byte K_doc</a:t>
            </a:r>
          </a:p>
        </p:txBody>
      </p:sp>
      <p:sp>
        <p:nvSpPr>
          <p:cNvPr id="16" name="">
            <a:extLst xmlns:a="http://schemas.openxmlformats.org/drawingml/2006/main">
              <a:ext uri="{FF2B5EF4-FFF2-40B4-BE49-F238E27FC236}">
                <a16:creationId xmlns:a16="http://schemas.microsoft.com/office/drawing/2014/main" id="{6E94C9C0-627E-412A-AFCE-CAAD0DE50737}"/>
              </a:ext>
            </a:extLst>
          </p:cNvPr>
          <p:cNvSpPr>
            <a:spLocks xmlns:a="http://schemas.openxmlformats.org/drawingml/2006/main" noGrp="1"/>
          </p:cNvSpPr>
          <p:nvPr/>
        </p:nvSpPr>
        <p:spPr>
          <a:xfrm xmlns:a="http://schemas.openxmlformats.org/drawingml/2006/main">
            <a:off x="5143500" y="2895600"/>
            <a:ext cx="76200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050BF4B-F197-42CD-A11A-6AE16D50146A}"/>
              </a:ext>
            </a:extLst>
          </p:cNvPr>
          <p:cNvSpPr>
            <a:spLocks xmlns:a="http://schemas.openxmlformats.org/drawingml/2006/main" noGrp="1"/>
          </p:cNvSpPr>
          <p:nvPr/>
        </p:nvSpPr>
        <p:spPr>
          <a:xfrm xmlns:a="http://schemas.openxmlformats.org/drawingml/2006/main">
            <a:off x="5886450" y="2809875"/>
            <a:ext cx="219075" cy="200025"/>
          </a:xfrm>
          <a:prstGeom xmlns:a="http://schemas.openxmlformats.org/drawingml/2006/main" prst="rightArrow">
            <a:avLst/>
          </a:prstGeom>
          <a:solidFill xmlns:a="http://schemas.openxmlformats.org/drawingml/2006/main">
            <a:srgbClr val="63B4A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A39B16C-C831-4118-B49F-0667F80023D8}"/>
              </a:ext>
            </a:extLst>
          </p:cNvPr>
          <p:cNvSpPr>
            <a:spLocks xmlns:a="http://schemas.openxmlformats.org/drawingml/2006/main" noGrp="1"/>
          </p:cNvSpPr>
          <p:nvPr/>
        </p:nvSpPr>
        <p:spPr>
          <a:xfrm xmlns:a="http://schemas.openxmlformats.org/drawingml/2006/main">
            <a:off x="6334125" y="262890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0B42693-474F-458B-9BB5-2A1AC2BD9E70}"/>
              </a:ext>
            </a:extLst>
          </p:cNvPr>
          <p:cNvSpPr>
            <a:spLocks xmlns:a="http://schemas.openxmlformats.org/drawingml/2006/main" noGrp="1"/>
          </p:cNvSpPr>
          <p:nvPr/>
        </p:nvSpPr>
        <p:spPr>
          <a:xfrm xmlns:a="http://schemas.openxmlformats.org/drawingml/2006/main">
            <a:off x="6496050" y="27051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3</a:t>
            </a:r>
          </a:p>
        </p:txBody>
      </p:sp>
      <p:sp>
        <p:nvSpPr>
          <p:cNvPr id="20" name="">
            <a:extLst xmlns:a="http://schemas.openxmlformats.org/drawingml/2006/main">
              <a:ext uri="{FF2B5EF4-FFF2-40B4-BE49-F238E27FC236}">
                <a16:creationId xmlns:a16="http://schemas.microsoft.com/office/drawing/2014/main" id="{C4D6A391-10EB-4287-86F4-EAD41074ECA9}"/>
              </a:ext>
            </a:extLst>
          </p:cNvPr>
          <p:cNvSpPr>
            <a:spLocks xmlns:a="http://schemas.openxmlformats.org/drawingml/2006/main" noGrp="1"/>
          </p:cNvSpPr>
          <p:nvPr/>
        </p:nvSpPr>
        <p:spPr>
          <a:xfrm xmlns:a="http://schemas.openxmlformats.org/drawingml/2006/main">
            <a:off x="6334125" y="3390900"/>
            <a:ext cx="2495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Encrypt</a:t>
            </a:r>
          </a:p>
        </p:txBody>
      </p:sp>
      <p:sp>
        <p:nvSpPr>
          <p:cNvPr id="21" name="">
            <a:extLst xmlns:a="http://schemas.openxmlformats.org/drawingml/2006/main">
              <a:ext uri="{FF2B5EF4-FFF2-40B4-BE49-F238E27FC236}">
                <a16:creationId xmlns:a16="http://schemas.microsoft.com/office/drawing/2014/main" id="{7CB3C0B1-9104-4CAF-9718-11BAC3B621DB}"/>
              </a:ext>
            </a:extLst>
          </p:cNvPr>
          <p:cNvSpPr>
            <a:spLocks xmlns:a="http://schemas.openxmlformats.org/drawingml/2006/main" noGrp="1"/>
          </p:cNvSpPr>
          <p:nvPr/>
        </p:nvSpPr>
        <p:spPr>
          <a:xfrm xmlns:a="http://schemas.openxmlformats.org/drawingml/2006/main">
            <a:off x="6334125" y="3943350"/>
            <a:ext cx="2495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AES-128-GCM + 12-byte nonce</a:t>
            </a:r>
          </a:p>
        </p:txBody>
      </p:sp>
      <p:sp>
        <p:nvSpPr>
          <p:cNvPr id="22" name="">
            <a:extLst xmlns:a="http://schemas.openxmlformats.org/drawingml/2006/main">
              <a:ext uri="{FF2B5EF4-FFF2-40B4-BE49-F238E27FC236}">
                <a16:creationId xmlns:a16="http://schemas.microsoft.com/office/drawing/2014/main" id="{B62B4F81-E2DE-4421-B364-BFDADB83ACAE}"/>
              </a:ext>
            </a:extLst>
          </p:cNvPr>
          <p:cNvSpPr>
            <a:spLocks xmlns:a="http://schemas.openxmlformats.org/drawingml/2006/main" noGrp="1"/>
          </p:cNvSpPr>
          <p:nvPr/>
        </p:nvSpPr>
        <p:spPr>
          <a:xfrm xmlns:a="http://schemas.openxmlformats.org/drawingml/2006/main">
            <a:off x="7953375" y="2895600"/>
            <a:ext cx="762000"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CE48B66-79CF-49CA-AFEB-CB1D40FA07A7}"/>
              </a:ext>
            </a:extLst>
          </p:cNvPr>
          <p:cNvSpPr>
            <a:spLocks xmlns:a="http://schemas.openxmlformats.org/drawingml/2006/main" noGrp="1"/>
          </p:cNvSpPr>
          <p:nvPr/>
        </p:nvSpPr>
        <p:spPr>
          <a:xfrm xmlns:a="http://schemas.openxmlformats.org/drawingml/2006/main">
            <a:off x="8696325" y="2809875"/>
            <a:ext cx="219075" cy="200025"/>
          </a:xfrm>
          <a:prstGeom xmlns:a="http://schemas.openxmlformats.org/drawingml/2006/main" prst="rightArrow">
            <a:avLst/>
          </a:prstGeom>
          <a:solidFill xmlns:a="http://schemas.openxmlformats.org/drawingml/2006/main">
            <a:srgbClr val="63B4A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A8D0205-3B47-47C1-9954-DB4599C6D68C}"/>
              </a:ext>
            </a:extLst>
          </p:cNvPr>
          <p:cNvSpPr>
            <a:spLocks xmlns:a="http://schemas.openxmlformats.org/drawingml/2006/main" noGrp="1"/>
          </p:cNvSpPr>
          <p:nvPr/>
        </p:nvSpPr>
        <p:spPr>
          <a:xfrm xmlns:a="http://schemas.openxmlformats.org/drawingml/2006/main">
            <a:off x="9144000" y="2628900"/>
            <a:ext cx="514350" cy="514350"/>
          </a:xfrm>
          <a:prstGeom xmlns:a="http://schemas.openxmlformats.org/drawingml/2006/main" prst="ellipse">
            <a:avLst/>
          </a:prstGeom>
          <a:solidFill xmlns:a="http://schemas.openxmlformats.org/drawingml/2006/main">
            <a:srgbClr val="C38B3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373DCE4-FC1D-48CF-AB56-95180205EB87}"/>
              </a:ext>
            </a:extLst>
          </p:cNvPr>
          <p:cNvSpPr>
            <a:spLocks xmlns:a="http://schemas.openxmlformats.org/drawingml/2006/main" noGrp="1"/>
          </p:cNvSpPr>
          <p:nvPr/>
        </p:nvSpPr>
        <p:spPr>
          <a:xfrm xmlns:a="http://schemas.openxmlformats.org/drawingml/2006/main">
            <a:off x="9305925" y="27051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4</a:t>
            </a:r>
          </a:p>
        </p:txBody>
      </p:sp>
      <p:sp>
        <p:nvSpPr>
          <p:cNvPr id="26" name="">
            <a:extLst xmlns:a="http://schemas.openxmlformats.org/drawingml/2006/main">
              <a:ext uri="{FF2B5EF4-FFF2-40B4-BE49-F238E27FC236}">
                <a16:creationId xmlns:a16="http://schemas.microsoft.com/office/drawing/2014/main" id="{6DAB8EB3-A512-42E1-B76E-2B9679933615}"/>
              </a:ext>
            </a:extLst>
          </p:cNvPr>
          <p:cNvSpPr>
            <a:spLocks xmlns:a="http://schemas.openxmlformats.org/drawingml/2006/main" noGrp="1"/>
          </p:cNvSpPr>
          <p:nvPr/>
        </p:nvSpPr>
        <p:spPr>
          <a:xfrm xmlns:a="http://schemas.openxmlformats.org/drawingml/2006/main">
            <a:off x="9144000" y="3390900"/>
            <a:ext cx="2495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Upload</a:t>
            </a:r>
          </a:p>
        </p:txBody>
      </p:sp>
      <p:sp>
        <p:nvSpPr>
          <p:cNvPr id="27" name="">
            <a:extLst xmlns:a="http://schemas.openxmlformats.org/drawingml/2006/main">
              <a:ext uri="{FF2B5EF4-FFF2-40B4-BE49-F238E27FC236}">
                <a16:creationId xmlns:a16="http://schemas.microsoft.com/office/drawing/2014/main" id="{7002EB6C-15B3-461A-AB4C-BD5A5CA65950}"/>
              </a:ext>
            </a:extLst>
          </p:cNvPr>
          <p:cNvSpPr>
            <a:spLocks xmlns:a="http://schemas.openxmlformats.org/drawingml/2006/main" noGrp="1"/>
          </p:cNvSpPr>
          <p:nvPr/>
        </p:nvSpPr>
        <p:spPr>
          <a:xfrm xmlns:a="http://schemas.openxmlformats.org/drawingml/2006/main">
            <a:off x="9144000" y="3943350"/>
            <a:ext cx="2495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ciphertext + AAD + tag</a:t>
            </a:r>
          </a:p>
        </p:txBody>
      </p:sp>
      <p:sp>
        <p:nvSpPr>
          <p:cNvPr id="28" name="">
            <a:extLst xmlns:a="http://schemas.openxmlformats.org/drawingml/2006/main">
              <a:ext uri="{FF2B5EF4-FFF2-40B4-BE49-F238E27FC236}">
                <a16:creationId xmlns:a16="http://schemas.microsoft.com/office/drawing/2014/main" id="{469B5A8F-8997-4C09-BB87-07E1CE1D35A6}"/>
              </a:ext>
            </a:extLst>
          </p:cNvPr>
          <p:cNvSpPr>
            <a:spLocks xmlns:a="http://schemas.openxmlformats.org/drawingml/2006/main" noGrp="1"/>
          </p:cNvSpPr>
          <p:nvPr/>
        </p:nvSpPr>
        <p:spPr>
          <a:xfrm xmlns:a="http://schemas.openxmlformats.org/drawingml/2006/main">
            <a:off x="733425" y="5305425"/>
            <a:ext cx="1074420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C11B265-B0D7-4CF9-819B-895A8FF4CA2D}"/>
              </a:ext>
            </a:extLst>
          </p:cNvPr>
          <p:cNvSpPr>
            <a:spLocks xmlns:a="http://schemas.openxmlformats.org/drawingml/2006/main" noGrp="1"/>
          </p:cNvSpPr>
          <p:nvPr/>
        </p:nvSpPr>
        <p:spPr>
          <a:xfrm xmlns:a="http://schemas.openxmlformats.org/drawingml/2006/main">
            <a:off x="742950" y="55626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32C3B"/>
                </a:solidFill>
                <a:latin typeface="DejaVu Sans"/>
                <a:ea typeface="DejaVu Sans"/>
                <a:cs typeface="DejaVu Sans"/>
              </a:defRPr>
            </a:pPr>
            <a:r>
              <a:rPr sz="1800" b="1">
                <a:solidFill>
                  <a:srgbClr val="132C3B"/>
                </a:solidFill>
                <a:latin typeface="DejaVu Sans"/>
                <a:ea typeface="DejaVu Sans"/>
                <a:cs typeface="DejaVu Sans"/>
              </a:rPr>
              <a:t>The encrypted payload contains the filename, file type and bytes.</a:t>
            </a:r>
          </a:p>
        </p:txBody>
      </p:sp>
    </p:spTree>
    <p:extLst>
      <p:ext uri="{BB962C8B-B14F-4D97-AF65-F5344CB8AC3E}">
        <p14:creationId xmlns:p14="http://schemas.microsoft.com/office/powerpoint/2010/main" val="45870829"/>
      </p:ext>
    </p:extLst>
  </p:cSld>
</p:sld>
</file>

<file path=ppt/slides/slide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AF005B2-F660-4286-8515-4CD37EBF061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F27689-5C3B-4907-A7DF-ECCA29883539}"/>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DOCUMENT FORMAT</a:t>
            </a:r>
          </a:p>
        </p:txBody>
      </p:sp>
      <p:sp>
        <p:nvSpPr>
          <p:cNvPr id="3" name="">
            <a:extLst xmlns:a="http://schemas.openxmlformats.org/drawingml/2006/main">
              <a:ext uri="{FF2B5EF4-FFF2-40B4-BE49-F238E27FC236}">
                <a16:creationId xmlns:a16="http://schemas.microsoft.com/office/drawing/2014/main" id="{9CFCEE6D-0782-4060-9E70-2E34513612E1}"/>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What stays visible on the server?</a:t>
            </a:r>
          </a:p>
        </p:txBody>
      </p:sp>
      <p:sp>
        <p:nvSpPr>
          <p:cNvPr id="4" name="">
            <a:extLst xmlns:a="http://schemas.openxmlformats.org/drawingml/2006/main">
              <a:ext uri="{FF2B5EF4-FFF2-40B4-BE49-F238E27FC236}">
                <a16:creationId xmlns:a16="http://schemas.microsoft.com/office/drawing/2014/main" id="{55B6C6C1-B369-4D2F-B85F-A26231AAF204}"/>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BA973E-FF93-42E3-9D79-437347732E88}"/>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09 / 17</a:t>
            </a:r>
          </a:p>
        </p:txBody>
      </p:sp>
      <p:sp>
        <p:nvSpPr>
          <p:cNvPr id="6" name="">
            <a:extLst xmlns:a="http://schemas.openxmlformats.org/drawingml/2006/main">
              <a:ext uri="{FF2B5EF4-FFF2-40B4-BE49-F238E27FC236}">
                <a16:creationId xmlns:a16="http://schemas.microsoft.com/office/drawing/2014/main" id="{ED7D63D2-984E-468B-A941-CB5FA3821435}"/>
              </a:ext>
            </a:extLst>
          </p:cNvPr>
          <p:cNvSpPr>
            <a:spLocks xmlns:a="http://schemas.openxmlformats.org/drawingml/2006/main" noGrp="1"/>
          </p:cNvSpPr>
          <p:nvPr/>
        </p:nvSpPr>
        <p:spPr>
          <a:xfrm xmlns:a="http://schemas.openxmlformats.org/drawingml/2006/main">
            <a:off x="723900" y="2190750"/>
            <a:ext cx="5067300" cy="2886075"/>
          </a:xfrm>
          <a:prstGeom xmlns:a="http://schemas.openxmlformats.org/drawingml/2006/main" prst="roundRect">
            <a:avLst>
              <a:gd name="adj" fmla="val 2640"/>
            </a:avLst>
          </a:prstGeom>
          <a:solidFill xmlns:a="http://schemas.openxmlformats.org/drawingml/2006/main">
            <a:srgbClr val="F2E7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169D843-D596-452A-A275-906235B6692D}"/>
              </a:ext>
            </a:extLst>
          </p:cNvPr>
          <p:cNvSpPr>
            <a:spLocks xmlns:a="http://schemas.openxmlformats.org/drawingml/2006/main" noGrp="1"/>
          </p:cNvSpPr>
          <p:nvPr/>
        </p:nvSpPr>
        <p:spPr>
          <a:xfrm xmlns:a="http://schemas.openxmlformats.org/drawingml/2006/main">
            <a:off x="6315075" y="2190750"/>
            <a:ext cx="5153025" cy="2886075"/>
          </a:xfrm>
          <a:prstGeom xmlns:a="http://schemas.openxmlformats.org/drawingml/2006/main" prst="roundRect">
            <a:avLst>
              <a:gd name="adj" fmla="val 2640"/>
            </a:avLst>
          </a:prstGeom>
          <a:solidFill xmlns:a="http://schemas.openxmlformats.org/drawingml/2006/main">
            <a:srgbClr val="E8F2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ABE9BB1-A88D-4617-BDCA-17EEFE5D6B18}"/>
              </a:ext>
            </a:extLst>
          </p:cNvPr>
          <p:cNvSpPr>
            <a:spLocks xmlns:a="http://schemas.openxmlformats.org/drawingml/2006/main" noGrp="1"/>
          </p:cNvSpPr>
          <p:nvPr/>
        </p:nvSpPr>
        <p:spPr>
          <a:xfrm xmlns:a="http://schemas.openxmlformats.org/drawingml/2006/main">
            <a:off x="1019175" y="2533650"/>
            <a:ext cx="4448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38B3E"/>
                </a:solidFill>
                <a:latin typeface="DejaVu Sans"/>
                <a:ea typeface="DejaVu Sans"/>
                <a:cs typeface="DejaVu Sans"/>
              </a:defRPr>
            </a:pPr>
            <a:r>
              <a:rPr sz="1950" b="1">
                <a:solidFill>
                  <a:srgbClr val="C38B3E"/>
                </a:solidFill>
                <a:latin typeface="DejaVu Sans"/>
                <a:ea typeface="DejaVu Sans"/>
                <a:cs typeface="DejaVu Sans"/>
              </a:rPr>
              <a:t>Public and authenticated</a:t>
            </a:r>
          </a:p>
        </p:txBody>
      </p:sp>
      <p:sp>
        <p:nvSpPr>
          <p:cNvPr id="9" name="">
            <a:extLst xmlns:a="http://schemas.openxmlformats.org/drawingml/2006/main">
              <a:ext uri="{FF2B5EF4-FFF2-40B4-BE49-F238E27FC236}">
                <a16:creationId xmlns:a16="http://schemas.microsoft.com/office/drawing/2014/main" id="{35C378DB-322F-44AA-9848-0791A4ACC9F4}"/>
              </a:ext>
            </a:extLst>
          </p:cNvPr>
          <p:cNvSpPr>
            <a:spLocks xmlns:a="http://schemas.openxmlformats.org/drawingml/2006/main" noGrp="1"/>
          </p:cNvSpPr>
          <p:nvPr/>
        </p:nvSpPr>
        <p:spPr>
          <a:xfrm xmlns:a="http://schemas.openxmlformats.org/drawingml/2006/main">
            <a:off x="1019175" y="3209925"/>
            <a:ext cx="43434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Document ID</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Owner and version</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Size and timestamp</a:t>
            </a:r>
          </a:p>
        </p:txBody>
      </p:sp>
      <p:sp>
        <p:nvSpPr>
          <p:cNvPr id="10" name="">
            <a:extLst xmlns:a="http://schemas.openxmlformats.org/drawingml/2006/main">
              <a:ext uri="{FF2B5EF4-FFF2-40B4-BE49-F238E27FC236}">
                <a16:creationId xmlns:a16="http://schemas.microsoft.com/office/drawing/2014/main" id="{C139F76F-E41A-496C-A36B-1B757AC3FFDC}"/>
              </a:ext>
            </a:extLst>
          </p:cNvPr>
          <p:cNvSpPr>
            <a:spLocks xmlns:a="http://schemas.openxmlformats.org/drawingml/2006/main" noGrp="1"/>
          </p:cNvSpPr>
          <p:nvPr/>
        </p:nvSpPr>
        <p:spPr>
          <a:xfrm xmlns:a="http://schemas.openxmlformats.org/drawingml/2006/main">
            <a:off x="6610350" y="2533650"/>
            <a:ext cx="4533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79"/>
                </a:solidFill>
                <a:latin typeface="DejaVu Sans"/>
                <a:ea typeface="DejaVu Sans"/>
                <a:cs typeface="DejaVu Sans"/>
              </a:defRPr>
            </a:pPr>
            <a:r>
              <a:rPr sz="1950" b="1">
                <a:solidFill>
                  <a:srgbClr val="087F79"/>
                </a:solidFill>
                <a:latin typeface="DejaVu Sans"/>
                <a:ea typeface="DejaVu Sans"/>
                <a:cs typeface="DejaVu Sans"/>
              </a:rPr>
              <a:t>Encrypted inside the payload</a:t>
            </a:r>
          </a:p>
        </p:txBody>
      </p:sp>
      <p:sp>
        <p:nvSpPr>
          <p:cNvPr id="11" name="">
            <a:extLst xmlns:a="http://schemas.openxmlformats.org/drawingml/2006/main">
              <a:ext uri="{FF2B5EF4-FFF2-40B4-BE49-F238E27FC236}">
                <a16:creationId xmlns:a16="http://schemas.microsoft.com/office/drawing/2014/main" id="{D8CB00CF-7982-407C-B0AD-921D340ED589}"/>
              </a:ext>
            </a:extLst>
          </p:cNvPr>
          <p:cNvSpPr>
            <a:spLocks xmlns:a="http://schemas.openxmlformats.org/drawingml/2006/main" noGrp="1"/>
          </p:cNvSpPr>
          <p:nvPr/>
        </p:nvSpPr>
        <p:spPr>
          <a:xfrm xmlns:a="http://schemas.openxmlformats.org/drawingml/2006/main">
            <a:off x="6610350" y="3209925"/>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Document bytes</a:t>
            </a:r>
          </a:p>
          <a:p xmlns:a="http://schemas.openxmlformats.org/drawingml/2006/main">
            <a:pPr>
              <a:defRPr sz="1725" b="0">
                <a:solidFill>
                  <a:srgbClr val="132C3B"/>
                </a:solidFill>
                <a:latin typeface="DejaVu Sans"/>
                <a:ea typeface="DejaVu Sans"/>
                <a:cs typeface="DejaVu Sans"/>
              </a:defRPr>
            </a:pPr>
            <a:r>
              <a:rPr sz="1725" b="0">
                <a:solidFill>
                  <a:srgbClr val="132C3B"/>
                </a:solidFill>
                <a:latin typeface="DejaVu Sans"/>
                <a:ea typeface="DejaVu Sans"/>
                <a:cs typeface="DejaVu Sans"/>
              </a:rPr>
              <a:t>Filename and file type</a:t>
            </a:r>
          </a:p>
        </p:txBody>
      </p:sp>
      <p:sp>
        <p:nvSpPr>
          <p:cNvPr id="12" name="">
            <a:extLst xmlns:a="http://schemas.openxmlformats.org/drawingml/2006/main">
              <a:ext uri="{FF2B5EF4-FFF2-40B4-BE49-F238E27FC236}">
                <a16:creationId xmlns:a16="http://schemas.microsoft.com/office/drawing/2014/main" id="{56EF3DD6-E4F8-4789-913C-CE32B7AAC9CB}"/>
              </a:ext>
            </a:extLst>
          </p:cNvPr>
          <p:cNvSpPr>
            <a:spLocks xmlns:a="http://schemas.openxmlformats.org/drawingml/2006/main" noGrp="1"/>
          </p:cNvSpPr>
          <p:nvPr/>
        </p:nvSpPr>
        <p:spPr>
          <a:xfrm xmlns:a="http://schemas.openxmlformats.org/drawingml/2006/main">
            <a:off x="752475" y="5534025"/>
            <a:ext cx="104489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D73"/>
                </a:solidFill>
                <a:latin typeface="DejaVu Sans"/>
                <a:ea typeface="DejaVu Sans"/>
                <a:cs typeface="DejaVu Sans"/>
              </a:defRPr>
            </a:pPr>
            <a:r>
              <a:rPr sz="1725" b="0">
                <a:solidFill>
                  <a:srgbClr val="596D73"/>
                </a:solidFill>
                <a:latin typeface="DejaVu Sans"/>
                <a:ea typeface="DejaVu Sans"/>
                <a:cs typeface="DejaVu Sans"/>
              </a:rPr>
              <a:t>The server also keeps a separate clear filename for list display and compares it on download, so SecureVault does not claim filename confidentiality.</a:t>
            </a:r>
          </a:p>
        </p:txBody>
      </p:sp>
    </p:spTree>
    <p:extLst>
      <p:ext uri="{BB962C8B-B14F-4D97-AF65-F5344CB8AC3E}">
        <p14:creationId xmlns:p14="http://schemas.microsoft.com/office/powerpoint/2010/main" val="197939604"/>
      </p:ext>
    </p:extLst>
  </p:cSld>
</p:sld>
</file>

<file path=ppt/slides/slide1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A590D4E-142A-489B-94F0-083051CA832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DE96D9-EB5D-434B-9EF9-B17BEF7D2029}"/>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BYTE-LEVEL FILE FORMAT</a:t>
            </a:r>
          </a:p>
        </p:txBody>
      </p:sp>
      <p:sp>
        <p:nvSpPr>
          <p:cNvPr id="3" name="">
            <a:extLst xmlns:a="http://schemas.openxmlformats.org/drawingml/2006/main">
              <a:ext uri="{FF2B5EF4-FFF2-40B4-BE49-F238E27FC236}">
                <a16:creationId xmlns:a16="http://schemas.microsoft.com/office/drawing/2014/main" id="{D1019EAE-C9A1-48FF-ACC0-D9F07B926A6F}"/>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The SGCM container</a:t>
            </a:r>
          </a:p>
        </p:txBody>
      </p:sp>
      <p:sp>
        <p:nvSpPr>
          <p:cNvPr id="4" name="">
            <a:extLst xmlns:a="http://schemas.openxmlformats.org/drawingml/2006/main">
              <a:ext uri="{FF2B5EF4-FFF2-40B4-BE49-F238E27FC236}">
                <a16:creationId xmlns:a16="http://schemas.microsoft.com/office/drawing/2014/main" id="{D3A87FE0-B34F-46D8-A62C-04ADE4CBD440}"/>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C99F49-58A3-4AF8-BEC7-FD0CA9F25DB9}"/>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10 / 17</a:t>
            </a:r>
          </a:p>
        </p:txBody>
      </p:sp>
      <p:sp>
        <p:nvSpPr>
          <p:cNvPr id="6" name="">
            <a:extLst xmlns:a="http://schemas.openxmlformats.org/drawingml/2006/main">
              <a:ext uri="{FF2B5EF4-FFF2-40B4-BE49-F238E27FC236}">
                <a16:creationId xmlns:a16="http://schemas.microsoft.com/office/drawing/2014/main" id="{9713FAFD-0480-4419-84AA-5CBDC56D8486}"/>
              </a:ext>
            </a:extLst>
          </p:cNvPr>
          <p:cNvSpPr>
            <a:spLocks xmlns:a="http://schemas.openxmlformats.org/drawingml/2006/main" noGrp="1"/>
          </p:cNvSpPr>
          <p:nvPr/>
        </p:nvSpPr>
        <p:spPr>
          <a:xfrm xmlns:a="http://schemas.openxmlformats.org/drawingml/2006/main">
            <a:off x="733425" y="2647950"/>
            <a:ext cx="1038225" cy="1266825"/>
          </a:xfrm>
          <a:prstGeom xmlns:a="http://schemas.openxmlformats.org/drawingml/2006/main" prst="roundRect">
            <a:avLst>
              <a:gd name="adj" fmla="val 7339"/>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FC5D17-720F-43D0-A7B2-8F8754888591}"/>
              </a:ext>
            </a:extLst>
          </p:cNvPr>
          <p:cNvSpPr>
            <a:spLocks xmlns:a="http://schemas.openxmlformats.org/drawingml/2006/main" noGrp="1"/>
          </p:cNvSpPr>
          <p:nvPr/>
        </p:nvSpPr>
        <p:spPr>
          <a:xfrm xmlns:a="http://schemas.openxmlformats.org/drawingml/2006/main">
            <a:off x="838200" y="2895600"/>
            <a:ext cx="85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SGCM</a:t>
            </a:r>
          </a:p>
        </p:txBody>
      </p:sp>
      <p:sp>
        <p:nvSpPr>
          <p:cNvPr id="8" name="">
            <a:extLst xmlns:a="http://schemas.openxmlformats.org/drawingml/2006/main">
              <a:ext uri="{FF2B5EF4-FFF2-40B4-BE49-F238E27FC236}">
                <a16:creationId xmlns:a16="http://schemas.microsoft.com/office/drawing/2014/main" id="{5B1A4530-2783-49AA-9831-3B18B482FFCE}"/>
              </a:ext>
            </a:extLst>
          </p:cNvPr>
          <p:cNvSpPr>
            <a:spLocks xmlns:a="http://schemas.openxmlformats.org/drawingml/2006/main" noGrp="1"/>
          </p:cNvSpPr>
          <p:nvPr/>
        </p:nvSpPr>
        <p:spPr>
          <a:xfrm xmlns:a="http://schemas.openxmlformats.org/drawingml/2006/main">
            <a:off x="838200" y="34956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4 B</a:t>
            </a:r>
          </a:p>
        </p:txBody>
      </p:sp>
      <p:sp>
        <p:nvSpPr>
          <p:cNvPr id="9" name="">
            <a:extLst xmlns:a="http://schemas.openxmlformats.org/drawingml/2006/main">
              <a:ext uri="{FF2B5EF4-FFF2-40B4-BE49-F238E27FC236}">
                <a16:creationId xmlns:a16="http://schemas.microsoft.com/office/drawing/2014/main" id="{78D6CE05-FF0A-4661-9865-612A4A6AF394}"/>
              </a:ext>
            </a:extLst>
          </p:cNvPr>
          <p:cNvSpPr>
            <a:spLocks xmlns:a="http://schemas.openxmlformats.org/drawingml/2006/main" noGrp="1"/>
          </p:cNvSpPr>
          <p:nvPr/>
        </p:nvSpPr>
        <p:spPr>
          <a:xfrm xmlns:a="http://schemas.openxmlformats.org/drawingml/2006/main">
            <a:off x="1809750" y="2647950"/>
            <a:ext cx="1390650" cy="1266825"/>
          </a:xfrm>
          <a:prstGeom xmlns:a="http://schemas.openxmlformats.org/drawingml/2006/main" prst="roundRect">
            <a:avLst>
              <a:gd name="adj" fmla="val 6015"/>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A860630-86D1-41C6-87F9-62B6588125D1}"/>
              </a:ext>
            </a:extLst>
          </p:cNvPr>
          <p:cNvSpPr>
            <a:spLocks xmlns:a="http://schemas.openxmlformats.org/drawingml/2006/main" noGrp="1"/>
          </p:cNvSpPr>
          <p:nvPr/>
        </p:nvSpPr>
        <p:spPr>
          <a:xfrm xmlns:a="http://schemas.openxmlformats.org/drawingml/2006/main">
            <a:off x="1914525" y="2895600"/>
            <a:ext cx="12096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meta len</a:t>
            </a:r>
          </a:p>
        </p:txBody>
      </p:sp>
      <p:sp>
        <p:nvSpPr>
          <p:cNvPr id="11" name="">
            <a:extLst xmlns:a="http://schemas.openxmlformats.org/drawingml/2006/main">
              <a:ext uri="{FF2B5EF4-FFF2-40B4-BE49-F238E27FC236}">
                <a16:creationId xmlns:a16="http://schemas.microsoft.com/office/drawing/2014/main" id="{89D013F3-FF02-4C96-91B5-CAE2BD1055BE}"/>
              </a:ext>
            </a:extLst>
          </p:cNvPr>
          <p:cNvSpPr>
            <a:spLocks xmlns:a="http://schemas.openxmlformats.org/drawingml/2006/main" noGrp="1"/>
          </p:cNvSpPr>
          <p:nvPr/>
        </p:nvSpPr>
        <p:spPr>
          <a:xfrm xmlns:a="http://schemas.openxmlformats.org/drawingml/2006/main">
            <a:off x="1914525" y="3495675"/>
            <a:ext cx="120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4 B</a:t>
            </a:r>
          </a:p>
        </p:txBody>
      </p:sp>
      <p:sp>
        <p:nvSpPr>
          <p:cNvPr id="12" name="">
            <a:extLst xmlns:a="http://schemas.openxmlformats.org/drawingml/2006/main">
              <a:ext uri="{FF2B5EF4-FFF2-40B4-BE49-F238E27FC236}">
                <a16:creationId xmlns:a16="http://schemas.microsoft.com/office/drawing/2014/main" id="{D9EB9346-C4B4-4B6D-87DC-EB09EA60EA3D}"/>
              </a:ext>
            </a:extLst>
          </p:cNvPr>
          <p:cNvSpPr>
            <a:spLocks xmlns:a="http://schemas.openxmlformats.org/drawingml/2006/main" noGrp="1"/>
          </p:cNvSpPr>
          <p:nvPr/>
        </p:nvSpPr>
        <p:spPr>
          <a:xfrm xmlns:a="http://schemas.openxmlformats.org/drawingml/2006/main">
            <a:off x="3238500" y="2647950"/>
            <a:ext cx="1914525" cy="1266825"/>
          </a:xfrm>
          <a:prstGeom xmlns:a="http://schemas.openxmlformats.org/drawingml/2006/main" prst="roundRect">
            <a:avLst>
              <a:gd name="adj" fmla="val 6015"/>
            </a:avLst>
          </a:prstGeom>
          <a:solidFill xmlns:a="http://schemas.openxmlformats.org/drawingml/2006/main">
            <a:srgbClr val="D7ECE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1E9EFFF-A01C-4A5C-AAEB-972CB013498C}"/>
              </a:ext>
            </a:extLst>
          </p:cNvPr>
          <p:cNvSpPr>
            <a:spLocks xmlns:a="http://schemas.openxmlformats.org/drawingml/2006/main" noGrp="1"/>
          </p:cNvSpPr>
          <p:nvPr/>
        </p:nvSpPr>
        <p:spPr>
          <a:xfrm xmlns:a="http://schemas.openxmlformats.org/drawingml/2006/main">
            <a:off x="3343275" y="2895600"/>
            <a:ext cx="1733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public meta</a:t>
            </a:r>
          </a:p>
        </p:txBody>
      </p:sp>
      <p:sp>
        <p:nvSpPr>
          <p:cNvPr id="14" name="">
            <a:extLst xmlns:a="http://schemas.openxmlformats.org/drawingml/2006/main">
              <a:ext uri="{FF2B5EF4-FFF2-40B4-BE49-F238E27FC236}">
                <a16:creationId xmlns:a16="http://schemas.microsoft.com/office/drawing/2014/main" id="{770ECCAA-51EA-4191-BE0B-636E115E6FCC}"/>
              </a:ext>
            </a:extLst>
          </p:cNvPr>
          <p:cNvSpPr>
            <a:spLocks xmlns:a="http://schemas.openxmlformats.org/drawingml/2006/main" noGrp="1"/>
          </p:cNvSpPr>
          <p:nvPr/>
        </p:nvSpPr>
        <p:spPr>
          <a:xfrm xmlns:a="http://schemas.openxmlformats.org/drawingml/2006/main">
            <a:off x="3343275" y="3495675"/>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variable</a:t>
            </a:r>
          </a:p>
        </p:txBody>
      </p:sp>
      <p:sp>
        <p:nvSpPr>
          <p:cNvPr id="15" name="">
            <a:extLst xmlns:a="http://schemas.openxmlformats.org/drawingml/2006/main">
              <a:ext uri="{FF2B5EF4-FFF2-40B4-BE49-F238E27FC236}">
                <a16:creationId xmlns:a16="http://schemas.microsoft.com/office/drawing/2014/main" id="{B9E83116-71C6-4629-83A4-062034DADC91}"/>
              </a:ext>
            </a:extLst>
          </p:cNvPr>
          <p:cNvSpPr>
            <a:spLocks xmlns:a="http://schemas.openxmlformats.org/drawingml/2006/main" noGrp="1"/>
          </p:cNvSpPr>
          <p:nvPr/>
        </p:nvSpPr>
        <p:spPr>
          <a:xfrm xmlns:a="http://schemas.openxmlformats.org/drawingml/2006/main">
            <a:off x="5191125" y="2647950"/>
            <a:ext cx="1485900" cy="1266825"/>
          </a:xfrm>
          <a:prstGeom xmlns:a="http://schemas.openxmlformats.org/drawingml/2006/main" prst="roundRect">
            <a:avLst>
              <a:gd name="adj" fmla="val 6015"/>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565BC0D-09A6-4E15-80D1-12CB3B59F36E}"/>
              </a:ext>
            </a:extLst>
          </p:cNvPr>
          <p:cNvSpPr>
            <a:spLocks xmlns:a="http://schemas.openxmlformats.org/drawingml/2006/main" noGrp="1"/>
          </p:cNvSpPr>
          <p:nvPr/>
        </p:nvSpPr>
        <p:spPr>
          <a:xfrm xmlns:a="http://schemas.openxmlformats.org/drawingml/2006/main">
            <a:off x="5295900" y="2895600"/>
            <a:ext cx="13049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cipher len</a:t>
            </a:r>
          </a:p>
        </p:txBody>
      </p:sp>
      <p:sp>
        <p:nvSpPr>
          <p:cNvPr id="17" name="">
            <a:extLst xmlns:a="http://schemas.openxmlformats.org/drawingml/2006/main">
              <a:ext uri="{FF2B5EF4-FFF2-40B4-BE49-F238E27FC236}">
                <a16:creationId xmlns:a16="http://schemas.microsoft.com/office/drawing/2014/main" id="{40C534AE-60EA-4C71-B3FB-A20D1590011B}"/>
              </a:ext>
            </a:extLst>
          </p:cNvPr>
          <p:cNvSpPr>
            <a:spLocks xmlns:a="http://schemas.openxmlformats.org/drawingml/2006/main" noGrp="1"/>
          </p:cNvSpPr>
          <p:nvPr/>
        </p:nvSpPr>
        <p:spPr>
          <a:xfrm xmlns:a="http://schemas.openxmlformats.org/drawingml/2006/main">
            <a:off x="5295900" y="3495675"/>
            <a:ext cx="1304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8 B</a:t>
            </a:r>
          </a:p>
        </p:txBody>
      </p:sp>
      <p:sp>
        <p:nvSpPr>
          <p:cNvPr id="18" name="">
            <a:extLst xmlns:a="http://schemas.openxmlformats.org/drawingml/2006/main">
              <a:ext uri="{FF2B5EF4-FFF2-40B4-BE49-F238E27FC236}">
                <a16:creationId xmlns:a16="http://schemas.microsoft.com/office/drawing/2014/main" id="{DBB4D9B1-1D87-412B-86FE-401EEF58D85C}"/>
              </a:ext>
            </a:extLst>
          </p:cNvPr>
          <p:cNvSpPr>
            <a:spLocks xmlns:a="http://schemas.openxmlformats.org/drawingml/2006/main" noGrp="1"/>
          </p:cNvSpPr>
          <p:nvPr/>
        </p:nvSpPr>
        <p:spPr>
          <a:xfrm xmlns:a="http://schemas.openxmlformats.org/drawingml/2006/main">
            <a:off x="6715125" y="2647950"/>
            <a:ext cx="1247775" cy="126682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6FAA4A0-2880-4921-BD5F-8165EF3F6060}"/>
              </a:ext>
            </a:extLst>
          </p:cNvPr>
          <p:cNvSpPr>
            <a:spLocks xmlns:a="http://schemas.openxmlformats.org/drawingml/2006/main" noGrp="1"/>
          </p:cNvSpPr>
          <p:nvPr/>
        </p:nvSpPr>
        <p:spPr>
          <a:xfrm xmlns:a="http://schemas.openxmlformats.org/drawingml/2006/main">
            <a:off x="6819900" y="2895600"/>
            <a:ext cx="1066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nonce</a:t>
            </a:r>
          </a:p>
        </p:txBody>
      </p:sp>
      <p:sp>
        <p:nvSpPr>
          <p:cNvPr id="20" name="">
            <a:extLst xmlns:a="http://schemas.openxmlformats.org/drawingml/2006/main">
              <a:ext uri="{FF2B5EF4-FFF2-40B4-BE49-F238E27FC236}">
                <a16:creationId xmlns:a16="http://schemas.microsoft.com/office/drawing/2014/main" id="{5047830E-9DA5-44FD-8B5E-43509FA0BFCF}"/>
              </a:ext>
            </a:extLst>
          </p:cNvPr>
          <p:cNvSpPr>
            <a:spLocks xmlns:a="http://schemas.openxmlformats.org/drawingml/2006/main" noGrp="1"/>
          </p:cNvSpPr>
          <p:nvPr/>
        </p:nvSpPr>
        <p:spPr>
          <a:xfrm xmlns:a="http://schemas.openxmlformats.org/drawingml/2006/main">
            <a:off x="6819900" y="3495675"/>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12 B</a:t>
            </a:r>
          </a:p>
        </p:txBody>
      </p:sp>
      <p:sp>
        <p:nvSpPr>
          <p:cNvPr id="21" name="">
            <a:extLst xmlns:a="http://schemas.openxmlformats.org/drawingml/2006/main">
              <a:ext uri="{FF2B5EF4-FFF2-40B4-BE49-F238E27FC236}">
                <a16:creationId xmlns:a16="http://schemas.microsoft.com/office/drawing/2014/main" id="{7FF3DEB0-AE23-4B7F-8CCA-AF67E4FB0052}"/>
              </a:ext>
            </a:extLst>
          </p:cNvPr>
          <p:cNvSpPr>
            <a:spLocks xmlns:a="http://schemas.openxmlformats.org/drawingml/2006/main" noGrp="1"/>
          </p:cNvSpPr>
          <p:nvPr/>
        </p:nvSpPr>
        <p:spPr>
          <a:xfrm xmlns:a="http://schemas.openxmlformats.org/drawingml/2006/main">
            <a:off x="8001000" y="2647950"/>
            <a:ext cx="2019300" cy="1266825"/>
          </a:xfrm>
          <a:prstGeom xmlns:a="http://schemas.openxmlformats.org/drawingml/2006/main" prst="roundRect">
            <a:avLst>
              <a:gd name="adj" fmla="val 6015"/>
            </a:avLst>
          </a:prstGeom>
          <a:solidFill xmlns:a="http://schemas.openxmlformats.org/drawingml/2006/main">
            <a:srgbClr val="CDE2D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51862C3-4CCE-482F-B0F9-320F315D752A}"/>
              </a:ext>
            </a:extLst>
          </p:cNvPr>
          <p:cNvSpPr>
            <a:spLocks xmlns:a="http://schemas.openxmlformats.org/drawingml/2006/main" noGrp="1"/>
          </p:cNvSpPr>
          <p:nvPr/>
        </p:nvSpPr>
        <p:spPr>
          <a:xfrm xmlns:a="http://schemas.openxmlformats.org/drawingml/2006/main">
            <a:off x="8105775" y="2895600"/>
            <a:ext cx="1838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ciphertext</a:t>
            </a:r>
          </a:p>
        </p:txBody>
      </p:sp>
      <p:sp>
        <p:nvSpPr>
          <p:cNvPr id="23" name="">
            <a:extLst xmlns:a="http://schemas.openxmlformats.org/drawingml/2006/main">
              <a:ext uri="{FF2B5EF4-FFF2-40B4-BE49-F238E27FC236}">
                <a16:creationId xmlns:a16="http://schemas.microsoft.com/office/drawing/2014/main" id="{27244053-B7FD-4C19-8562-724736F74CAA}"/>
              </a:ext>
            </a:extLst>
          </p:cNvPr>
          <p:cNvSpPr>
            <a:spLocks xmlns:a="http://schemas.openxmlformats.org/drawingml/2006/main" noGrp="1"/>
          </p:cNvSpPr>
          <p:nvPr/>
        </p:nvSpPr>
        <p:spPr>
          <a:xfrm xmlns:a="http://schemas.openxmlformats.org/drawingml/2006/main">
            <a:off x="8105775" y="3495675"/>
            <a:ext cx="1838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variable</a:t>
            </a:r>
          </a:p>
        </p:txBody>
      </p:sp>
      <p:sp>
        <p:nvSpPr>
          <p:cNvPr id="24" name="">
            <a:extLst xmlns:a="http://schemas.openxmlformats.org/drawingml/2006/main">
              <a:ext uri="{FF2B5EF4-FFF2-40B4-BE49-F238E27FC236}">
                <a16:creationId xmlns:a16="http://schemas.microsoft.com/office/drawing/2014/main" id="{759F401B-938B-4BA7-8155-C26C971368B8}"/>
              </a:ext>
            </a:extLst>
          </p:cNvPr>
          <p:cNvSpPr>
            <a:spLocks xmlns:a="http://schemas.openxmlformats.org/drawingml/2006/main" noGrp="1"/>
          </p:cNvSpPr>
          <p:nvPr/>
        </p:nvSpPr>
        <p:spPr>
          <a:xfrm xmlns:a="http://schemas.openxmlformats.org/drawingml/2006/main">
            <a:off x="10058400" y="2647950"/>
            <a:ext cx="1133475" cy="1266825"/>
          </a:xfrm>
          <a:prstGeom xmlns:a="http://schemas.openxmlformats.org/drawingml/2006/main" prst="roundRect">
            <a:avLst>
              <a:gd name="adj" fmla="val 6723"/>
            </a:avLst>
          </a:prstGeom>
          <a:solidFill xmlns:a="http://schemas.openxmlformats.org/drawingml/2006/main">
            <a:srgbClr val="F2E7D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CAF85E6-5AFC-4C84-BABF-83025E78A9F8}"/>
              </a:ext>
            </a:extLst>
          </p:cNvPr>
          <p:cNvSpPr>
            <a:spLocks xmlns:a="http://schemas.openxmlformats.org/drawingml/2006/main" noGrp="1"/>
          </p:cNvSpPr>
          <p:nvPr/>
        </p:nvSpPr>
        <p:spPr>
          <a:xfrm xmlns:a="http://schemas.openxmlformats.org/drawingml/2006/main">
            <a:off x="10163175" y="2895600"/>
            <a:ext cx="95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32C3B"/>
                </a:solidFill>
                <a:latin typeface="DejaVu Sans"/>
                <a:ea typeface="DejaVu Sans"/>
                <a:cs typeface="DejaVu Sans"/>
              </a:defRPr>
            </a:pPr>
            <a:r>
              <a:rPr sz="1275" b="1">
                <a:solidFill>
                  <a:srgbClr val="132C3B"/>
                </a:solidFill>
                <a:latin typeface="DejaVu Sans"/>
                <a:ea typeface="DejaVu Sans"/>
                <a:cs typeface="DejaVu Sans"/>
              </a:rPr>
              <a:t>tag</a:t>
            </a:r>
          </a:p>
        </p:txBody>
      </p:sp>
      <p:sp>
        <p:nvSpPr>
          <p:cNvPr id="26" name="">
            <a:extLst xmlns:a="http://schemas.openxmlformats.org/drawingml/2006/main">
              <a:ext uri="{FF2B5EF4-FFF2-40B4-BE49-F238E27FC236}">
                <a16:creationId xmlns:a16="http://schemas.microsoft.com/office/drawing/2014/main" id="{ADDF3647-13CE-4B4A-957E-BC006E51E338}"/>
              </a:ext>
            </a:extLst>
          </p:cNvPr>
          <p:cNvSpPr>
            <a:spLocks xmlns:a="http://schemas.openxmlformats.org/drawingml/2006/main" noGrp="1"/>
          </p:cNvSpPr>
          <p:nvPr/>
        </p:nvSpPr>
        <p:spPr>
          <a:xfrm xmlns:a="http://schemas.openxmlformats.org/drawingml/2006/main">
            <a:off x="10163175" y="34956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D73"/>
                </a:solidFill>
                <a:latin typeface="DejaVu Sans"/>
                <a:ea typeface="DejaVu Sans"/>
                <a:cs typeface="DejaVu Sans"/>
              </a:defRPr>
            </a:pPr>
            <a:r>
              <a:rPr sz="1200" b="0">
                <a:solidFill>
                  <a:srgbClr val="596D73"/>
                </a:solidFill>
                <a:latin typeface="DejaVu Sans"/>
                <a:ea typeface="DejaVu Sans"/>
                <a:cs typeface="DejaVu Sans"/>
              </a:rPr>
              <a:t>16 B</a:t>
            </a:r>
          </a:p>
        </p:txBody>
      </p:sp>
      <p:sp>
        <p:nvSpPr>
          <p:cNvPr id="27" name="">
            <a:extLst xmlns:a="http://schemas.openxmlformats.org/drawingml/2006/main">
              <a:ext uri="{FF2B5EF4-FFF2-40B4-BE49-F238E27FC236}">
                <a16:creationId xmlns:a16="http://schemas.microsoft.com/office/drawing/2014/main" id="{958DA96A-19CB-4140-814D-73499F2B56EE}"/>
              </a:ext>
            </a:extLst>
          </p:cNvPr>
          <p:cNvSpPr>
            <a:spLocks xmlns:a="http://schemas.openxmlformats.org/drawingml/2006/main" noGrp="1"/>
          </p:cNvSpPr>
          <p:nvPr/>
        </p:nvSpPr>
        <p:spPr>
          <a:xfrm xmlns:a="http://schemas.openxmlformats.org/drawingml/2006/main">
            <a:off x="762000" y="46958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C3B"/>
                </a:solidFill>
                <a:latin typeface="DejaVu Sans"/>
                <a:ea typeface="DejaVu Sans"/>
                <a:cs typeface="DejaVu Sans"/>
              </a:defRPr>
            </a:pPr>
            <a:r>
              <a:rPr sz="1725" b="1">
                <a:solidFill>
                  <a:srgbClr val="132C3B"/>
                </a:solidFill>
                <a:latin typeface="DejaVu Sans"/>
                <a:ea typeface="DejaVu Sans"/>
                <a:cs typeface="DejaVu Sans"/>
              </a:rPr>
              <a:t>Metadata length: max 64 KiB</a:t>
            </a:r>
          </a:p>
        </p:txBody>
      </p:sp>
      <p:sp>
        <p:nvSpPr>
          <p:cNvPr id="28" name="">
            <a:extLst xmlns:a="http://schemas.openxmlformats.org/drawingml/2006/main">
              <a:ext uri="{FF2B5EF4-FFF2-40B4-BE49-F238E27FC236}">
                <a16:creationId xmlns:a16="http://schemas.microsoft.com/office/drawing/2014/main" id="{2271613A-4BA2-414D-ADB6-ED363777D4AE}"/>
              </a:ext>
            </a:extLst>
          </p:cNvPr>
          <p:cNvSpPr>
            <a:spLocks xmlns:a="http://schemas.openxmlformats.org/drawingml/2006/main" noGrp="1"/>
          </p:cNvSpPr>
          <p:nvPr/>
        </p:nvSpPr>
        <p:spPr>
          <a:xfrm xmlns:a="http://schemas.openxmlformats.org/drawingml/2006/main">
            <a:off x="6334125" y="4695825"/>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C3B"/>
                </a:solidFill>
                <a:latin typeface="DejaVu Sans"/>
                <a:ea typeface="DejaVu Sans"/>
                <a:cs typeface="DejaVu Sans"/>
              </a:defRPr>
            </a:pPr>
            <a:r>
              <a:rPr sz="1725" b="1">
                <a:solidFill>
                  <a:srgbClr val="132C3B"/>
                </a:solidFill>
                <a:latin typeface="DejaVu Sans"/>
                <a:ea typeface="DejaVu Sans"/>
                <a:cs typeface="DejaVu Sans"/>
              </a:rPr>
              <a:t>Ciphertext length: max about 2 GiB</a:t>
            </a:r>
          </a:p>
        </p:txBody>
      </p:sp>
      <p:sp>
        <p:nvSpPr>
          <p:cNvPr id="29" name="">
            <a:extLst xmlns:a="http://schemas.openxmlformats.org/drawingml/2006/main">
              <a:ext uri="{FF2B5EF4-FFF2-40B4-BE49-F238E27FC236}">
                <a16:creationId xmlns:a16="http://schemas.microsoft.com/office/drawing/2014/main" id="{450743B3-6BD5-483C-8D6C-712D058469BC}"/>
              </a:ext>
            </a:extLst>
          </p:cNvPr>
          <p:cNvSpPr>
            <a:spLocks xmlns:a="http://schemas.openxmlformats.org/drawingml/2006/main" noGrp="1"/>
          </p:cNvSpPr>
          <p:nvPr/>
        </p:nvSpPr>
        <p:spPr>
          <a:xfrm xmlns:a="http://schemas.openxmlformats.org/drawingml/2006/main">
            <a:off x="752475" y="5429250"/>
            <a:ext cx="10734675"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BD4D865-CE1C-4E36-AD51-E45F875651C6}"/>
              </a:ext>
            </a:extLst>
          </p:cNvPr>
          <p:cNvSpPr>
            <a:spLocks xmlns:a="http://schemas.openxmlformats.org/drawingml/2006/main" noGrp="1"/>
          </p:cNvSpPr>
          <p:nvPr/>
        </p:nvSpPr>
        <p:spPr>
          <a:xfrm xmlns:a="http://schemas.openxmlformats.org/drawingml/2006/main">
            <a:off x="762000" y="5724525"/>
            <a:ext cx="10429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79"/>
                </a:solidFill>
                <a:latin typeface="DejaVu Sans"/>
                <a:ea typeface="DejaVu Sans"/>
                <a:cs typeface="DejaVu Sans"/>
              </a:defRPr>
            </a:pPr>
            <a:r>
              <a:rPr sz="1725" b="1">
                <a:solidFill>
                  <a:srgbClr val="087F79"/>
                </a:solidFill>
                <a:latin typeface="DejaVu Sans"/>
                <a:ea typeface="DejaVu Sans"/>
                <a:cs typeface="DejaVu Sans"/>
              </a:rPr>
              <a:t>GCM authenticates both ciphertext and the public header used as AAD.</a:t>
            </a:r>
          </a:p>
        </p:txBody>
      </p:sp>
    </p:spTree>
    <p:extLst>
      <p:ext uri="{BB962C8B-B14F-4D97-AF65-F5344CB8AC3E}">
        <p14:creationId xmlns:p14="http://schemas.microsoft.com/office/powerpoint/2010/main" val="549309779"/>
      </p:ext>
    </p:extLst>
  </p:cSld>
</p:sld>
</file>

<file path=ppt/slides/slide1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FA06DC1-AF98-48BA-9A91-28966FA6424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7E44E0-2A65-4FEC-BEDA-5446C4C864F4}"/>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CERTIFIED RECIPIENT</a:t>
            </a:r>
          </a:p>
        </p:txBody>
      </p:sp>
      <p:sp>
        <p:nvSpPr>
          <p:cNvPr id="3" name="">
            <a:extLst xmlns:a="http://schemas.openxmlformats.org/drawingml/2006/main">
              <a:ext uri="{FF2B5EF4-FFF2-40B4-BE49-F238E27FC236}">
                <a16:creationId xmlns:a16="http://schemas.microsoft.com/office/drawing/2014/main" id="{1037413E-B472-4C58-A2CA-100649E52DF0}"/>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Sharing protects the document key</a:t>
            </a:r>
          </a:p>
        </p:txBody>
      </p:sp>
      <p:sp>
        <p:nvSpPr>
          <p:cNvPr id="4" name="">
            <a:extLst xmlns:a="http://schemas.openxmlformats.org/drawingml/2006/main">
              <a:ext uri="{FF2B5EF4-FFF2-40B4-BE49-F238E27FC236}">
                <a16:creationId xmlns:a16="http://schemas.microsoft.com/office/drawing/2014/main" id="{F6DEBFA4-F4DC-49C8-9EFF-6F554BAF9E44}"/>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E04956-953D-45B0-AA92-E2FCDF132D26}"/>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11 / 17</a:t>
            </a:r>
          </a:p>
        </p:txBody>
      </p:sp>
      <p:sp>
        <p:nvSpPr>
          <p:cNvPr id="6" name="">
            <a:extLst xmlns:a="http://schemas.openxmlformats.org/drawingml/2006/main">
              <a:ext uri="{FF2B5EF4-FFF2-40B4-BE49-F238E27FC236}">
                <a16:creationId xmlns:a16="http://schemas.microsoft.com/office/drawing/2014/main" id="{A7D4F513-4431-4D54-A6F5-CB0F72886392}"/>
              </a:ext>
            </a:extLst>
          </p:cNvPr>
          <p:cNvSpPr>
            <a:spLocks xmlns:a="http://schemas.openxmlformats.org/drawingml/2006/main" noGrp="1"/>
          </p:cNvSpPr>
          <p:nvPr/>
        </p:nvSpPr>
        <p:spPr>
          <a:xfrm xmlns:a="http://schemas.openxmlformats.org/drawingml/2006/main">
            <a:off x="752475" y="2124075"/>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408D92-B343-4FD0-8944-FAE53D3877D3}"/>
              </a:ext>
            </a:extLst>
          </p:cNvPr>
          <p:cNvSpPr>
            <a:spLocks xmlns:a="http://schemas.openxmlformats.org/drawingml/2006/main" noGrp="1"/>
          </p:cNvSpPr>
          <p:nvPr/>
        </p:nvSpPr>
        <p:spPr>
          <a:xfrm xmlns:a="http://schemas.openxmlformats.org/drawingml/2006/main">
            <a:off x="914400" y="2200275"/>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D73D49DF-7782-4618-AE39-756DEA3B51A2}"/>
              </a:ext>
            </a:extLst>
          </p:cNvPr>
          <p:cNvSpPr>
            <a:spLocks xmlns:a="http://schemas.openxmlformats.org/drawingml/2006/main" noGrp="1"/>
          </p:cNvSpPr>
          <p:nvPr/>
        </p:nvSpPr>
        <p:spPr>
          <a:xfrm xmlns:a="http://schemas.openxmlformats.org/drawingml/2006/main">
            <a:off x="1514475" y="2143125"/>
            <a:ext cx="3629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Certificate</a:t>
            </a:r>
          </a:p>
        </p:txBody>
      </p:sp>
      <p:sp>
        <p:nvSpPr>
          <p:cNvPr id="9" name="">
            <a:extLst xmlns:a="http://schemas.openxmlformats.org/drawingml/2006/main">
              <a:ext uri="{FF2B5EF4-FFF2-40B4-BE49-F238E27FC236}">
                <a16:creationId xmlns:a16="http://schemas.microsoft.com/office/drawing/2014/main" id="{FB9E37C0-628E-4B15-9A4D-D65439E9D302}"/>
              </a:ext>
            </a:extLst>
          </p:cNvPr>
          <p:cNvSpPr>
            <a:spLocks xmlns:a="http://schemas.openxmlformats.org/drawingml/2006/main" noGrp="1"/>
          </p:cNvSpPr>
          <p:nvPr/>
        </p:nvSpPr>
        <p:spPr>
          <a:xfrm xmlns:a="http://schemas.openxmlformats.org/drawingml/2006/main">
            <a:off x="5334000" y="2152650"/>
            <a:ext cx="581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D73"/>
                </a:solidFill>
                <a:latin typeface="DejaVu Sans"/>
                <a:ea typeface="DejaVu Sans"/>
                <a:cs typeface="DejaVu Sans"/>
              </a:defRPr>
            </a:pPr>
            <a:r>
              <a:rPr sz="1650" b="0">
                <a:solidFill>
                  <a:srgbClr val="596D73"/>
                </a:solidFill>
                <a:latin typeface="DejaVu Sans"/>
                <a:ea typeface="DejaVu Sans"/>
                <a:cs typeface="DejaVu Sans"/>
              </a:rPr>
              <a:t>Verify recipient ECDH public key</a:t>
            </a:r>
          </a:p>
        </p:txBody>
      </p:sp>
      <p:sp>
        <p:nvSpPr>
          <p:cNvPr id="10" name="">
            <a:extLst xmlns:a="http://schemas.openxmlformats.org/drawingml/2006/main">
              <a:ext uri="{FF2B5EF4-FFF2-40B4-BE49-F238E27FC236}">
                <a16:creationId xmlns:a16="http://schemas.microsoft.com/office/drawing/2014/main" id="{477B2B6F-E3F2-4460-B280-5AA270327685}"/>
              </a:ext>
            </a:extLst>
          </p:cNvPr>
          <p:cNvSpPr>
            <a:spLocks xmlns:a="http://schemas.openxmlformats.org/drawingml/2006/main" noGrp="1"/>
          </p:cNvSpPr>
          <p:nvPr/>
        </p:nvSpPr>
        <p:spPr>
          <a:xfrm xmlns:a="http://schemas.openxmlformats.org/drawingml/2006/main">
            <a:off x="1000125" y="2638425"/>
            <a:ext cx="28575" cy="476250"/>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DC8F82-1ADC-48B9-A82A-68F7043D76C0}"/>
              </a:ext>
            </a:extLst>
          </p:cNvPr>
          <p:cNvSpPr>
            <a:spLocks xmlns:a="http://schemas.openxmlformats.org/drawingml/2006/main" noGrp="1"/>
          </p:cNvSpPr>
          <p:nvPr/>
        </p:nvSpPr>
        <p:spPr>
          <a:xfrm xmlns:a="http://schemas.openxmlformats.org/drawingml/2006/main">
            <a:off x="752475" y="3105150"/>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87E0EA1-59AE-4E77-8A05-ADC3A08B7759}"/>
              </a:ext>
            </a:extLst>
          </p:cNvPr>
          <p:cNvSpPr>
            <a:spLocks xmlns:a="http://schemas.openxmlformats.org/drawingml/2006/main" noGrp="1"/>
          </p:cNvSpPr>
          <p:nvPr/>
        </p:nvSpPr>
        <p:spPr>
          <a:xfrm xmlns:a="http://schemas.openxmlformats.org/drawingml/2006/main">
            <a:off x="914400" y="318135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2</a:t>
            </a:r>
          </a:p>
        </p:txBody>
      </p:sp>
      <p:sp>
        <p:nvSpPr>
          <p:cNvPr id="13" name="">
            <a:extLst xmlns:a="http://schemas.openxmlformats.org/drawingml/2006/main">
              <a:ext uri="{FF2B5EF4-FFF2-40B4-BE49-F238E27FC236}">
                <a16:creationId xmlns:a16="http://schemas.microsoft.com/office/drawing/2014/main" id="{8CA502DF-B5CF-4E47-865C-38CA04F28CCD}"/>
              </a:ext>
            </a:extLst>
          </p:cNvPr>
          <p:cNvSpPr>
            <a:spLocks xmlns:a="http://schemas.openxmlformats.org/drawingml/2006/main" noGrp="1"/>
          </p:cNvSpPr>
          <p:nvPr/>
        </p:nvSpPr>
        <p:spPr>
          <a:xfrm xmlns:a="http://schemas.openxmlformats.org/drawingml/2006/main">
            <a:off x="1514475" y="3124200"/>
            <a:ext cx="3629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P-256 ECDH</a:t>
            </a:r>
          </a:p>
        </p:txBody>
      </p:sp>
      <p:sp>
        <p:nvSpPr>
          <p:cNvPr id="14" name="">
            <a:extLst xmlns:a="http://schemas.openxmlformats.org/drawingml/2006/main">
              <a:ext uri="{FF2B5EF4-FFF2-40B4-BE49-F238E27FC236}">
                <a16:creationId xmlns:a16="http://schemas.microsoft.com/office/drawing/2014/main" id="{1FA4966D-3D9D-45A4-B364-9FA92AA1F187}"/>
              </a:ext>
            </a:extLst>
          </p:cNvPr>
          <p:cNvSpPr>
            <a:spLocks xmlns:a="http://schemas.openxmlformats.org/drawingml/2006/main" noGrp="1"/>
          </p:cNvSpPr>
          <p:nvPr/>
        </p:nvSpPr>
        <p:spPr>
          <a:xfrm xmlns:a="http://schemas.openxmlformats.org/drawingml/2006/main">
            <a:off x="5334000" y="3133725"/>
            <a:ext cx="581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D73"/>
                </a:solidFill>
                <a:latin typeface="DejaVu Sans"/>
                <a:ea typeface="DejaVu Sans"/>
                <a:cs typeface="DejaVu Sans"/>
              </a:defRPr>
            </a:pPr>
            <a:r>
              <a:rPr sz="1650" b="0">
                <a:solidFill>
                  <a:srgbClr val="596D73"/>
                </a:solidFill>
                <a:latin typeface="DejaVu Sans"/>
                <a:ea typeface="DejaVu Sans"/>
                <a:cs typeface="DejaVu Sans"/>
              </a:rPr>
              <a:t>Sender creates an ephemeral key pair</a:t>
            </a:r>
          </a:p>
        </p:txBody>
      </p:sp>
      <p:sp>
        <p:nvSpPr>
          <p:cNvPr id="15" name="">
            <a:extLst xmlns:a="http://schemas.openxmlformats.org/drawingml/2006/main">
              <a:ext uri="{FF2B5EF4-FFF2-40B4-BE49-F238E27FC236}">
                <a16:creationId xmlns:a16="http://schemas.microsoft.com/office/drawing/2014/main" id="{33353D90-91F1-4F53-B70B-5DF911FED2FB}"/>
              </a:ext>
            </a:extLst>
          </p:cNvPr>
          <p:cNvSpPr>
            <a:spLocks xmlns:a="http://schemas.openxmlformats.org/drawingml/2006/main" noGrp="1"/>
          </p:cNvSpPr>
          <p:nvPr/>
        </p:nvSpPr>
        <p:spPr>
          <a:xfrm xmlns:a="http://schemas.openxmlformats.org/drawingml/2006/main">
            <a:off x="1000125" y="3619500"/>
            <a:ext cx="28575" cy="476250"/>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0DE751A-378B-477D-AF49-008A2AD85C54}"/>
              </a:ext>
            </a:extLst>
          </p:cNvPr>
          <p:cNvSpPr>
            <a:spLocks xmlns:a="http://schemas.openxmlformats.org/drawingml/2006/main" noGrp="1"/>
          </p:cNvSpPr>
          <p:nvPr/>
        </p:nvSpPr>
        <p:spPr>
          <a:xfrm xmlns:a="http://schemas.openxmlformats.org/drawingml/2006/main">
            <a:off x="752475" y="4086225"/>
            <a:ext cx="514350" cy="514350"/>
          </a:xfrm>
          <a:prstGeom xmlns:a="http://schemas.openxmlformats.org/drawingml/2006/main" prst="ellipse">
            <a:avLst/>
          </a:prstGeom>
          <a:solidFill xmlns:a="http://schemas.openxmlformats.org/drawingml/2006/main">
            <a:srgbClr val="08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5FA173E-3491-4EE9-BC35-DE52A71ADD9D}"/>
              </a:ext>
            </a:extLst>
          </p:cNvPr>
          <p:cNvSpPr>
            <a:spLocks xmlns:a="http://schemas.openxmlformats.org/drawingml/2006/main" noGrp="1"/>
          </p:cNvSpPr>
          <p:nvPr/>
        </p:nvSpPr>
        <p:spPr>
          <a:xfrm xmlns:a="http://schemas.openxmlformats.org/drawingml/2006/main">
            <a:off x="914400" y="4162425"/>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3</a:t>
            </a:r>
          </a:p>
        </p:txBody>
      </p:sp>
      <p:sp>
        <p:nvSpPr>
          <p:cNvPr id="18" name="">
            <a:extLst xmlns:a="http://schemas.openxmlformats.org/drawingml/2006/main">
              <a:ext uri="{FF2B5EF4-FFF2-40B4-BE49-F238E27FC236}">
                <a16:creationId xmlns:a16="http://schemas.microsoft.com/office/drawing/2014/main" id="{33234F1A-704F-4823-AD41-A8BB2937271C}"/>
              </a:ext>
            </a:extLst>
          </p:cNvPr>
          <p:cNvSpPr>
            <a:spLocks xmlns:a="http://schemas.openxmlformats.org/drawingml/2006/main" noGrp="1"/>
          </p:cNvSpPr>
          <p:nvPr/>
        </p:nvSpPr>
        <p:spPr>
          <a:xfrm xmlns:a="http://schemas.openxmlformats.org/drawingml/2006/main">
            <a:off x="1514475" y="4105275"/>
            <a:ext cx="3629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HKDF-SHA-256</a:t>
            </a:r>
          </a:p>
        </p:txBody>
      </p:sp>
      <p:sp>
        <p:nvSpPr>
          <p:cNvPr id="19" name="">
            <a:extLst xmlns:a="http://schemas.openxmlformats.org/drawingml/2006/main">
              <a:ext uri="{FF2B5EF4-FFF2-40B4-BE49-F238E27FC236}">
                <a16:creationId xmlns:a16="http://schemas.microsoft.com/office/drawing/2014/main" id="{470E8226-18D7-4E6E-8FC9-0D456A0FAE43}"/>
              </a:ext>
            </a:extLst>
          </p:cNvPr>
          <p:cNvSpPr>
            <a:spLocks xmlns:a="http://schemas.openxmlformats.org/drawingml/2006/main" noGrp="1"/>
          </p:cNvSpPr>
          <p:nvPr/>
        </p:nvSpPr>
        <p:spPr>
          <a:xfrm xmlns:a="http://schemas.openxmlformats.org/drawingml/2006/main">
            <a:off x="5334000" y="4114800"/>
            <a:ext cx="581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D73"/>
                </a:solidFill>
                <a:latin typeface="DejaVu Sans"/>
                <a:ea typeface="DejaVu Sans"/>
                <a:cs typeface="DejaVu Sans"/>
              </a:defRPr>
            </a:pPr>
            <a:r>
              <a:rPr sz="1650" b="0">
                <a:solidFill>
                  <a:srgbClr val="596D73"/>
                </a:solidFill>
                <a:latin typeface="DejaVu Sans"/>
                <a:ea typeface="DejaVu Sans"/>
                <a:cs typeface="DejaVu Sans"/>
              </a:rPr>
              <a:t>Derive a 16-byte wrapping key</a:t>
            </a:r>
          </a:p>
        </p:txBody>
      </p:sp>
      <p:sp>
        <p:nvSpPr>
          <p:cNvPr id="20" name="">
            <a:extLst xmlns:a="http://schemas.openxmlformats.org/drawingml/2006/main">
              <a:ext uri="{FF2B5EF4-FFF2-40B4-BE49-F238E27FC236}">
                <a16:creationId xmlns:a16="http://schemas.microsoft.com/office/drawing/2014/main" id="{A01C10D8-B14B-4E25-8067-4185B9A84CF1}"/>
              </a:ext>
            </a:extLst>
          </p:cNvPr>
          <p:cNvSpPr>
            <a:spLocks xmlns:a="http://schemas.openxmlformats.org/drawingml/2006/main" noGrp="1"/>
          </p:cNvSpPr>
          <p:nvPr/>
        </p:nvSpPr>
        <p:spPr>
          <a:xfrm xmlns:a="http://schemas.openxmlformats.org/drawingml/2006/main">
            <a:off x="1000125" y="4600575"/>
            <a:ext cx="28575" cy="476250"/>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57C4B4F-1E62-4556-9A23-E1A99973C3C8}"/>
              </a:ext>
            </a:extLst>
          </p:cNvPr>
          <p:cNvSpPr>
            <a:spLocks xmlns:a="http://schemas.openxmlformats.org/drawingml/2006/main" noGrp="1"/>
          </p:cNvSpPr>
          <p:nvPr/>
        </p:nvSpPr>
        <p:spPr>
          <a:xfrm xmlns:a="http://schemas.openxmlformats.org/drawingml/2006/main">
            <a:off x="752475" y="5067300"/>
            <a:ext cx="514350" cy="514350"/>
          </a:xfrm>
          <a:prstGeom xmlns:a="http://schemas.openxmlformats.org/drawingml/2006/main" prst="ellipse">
            <a:avLst/>
          </a:prstGeom>
          <a:solidFill xmlns:a="http://schemas.openxmlformats.org/drawingml/2006/main">
            <a:srgbClr val="C38B3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0C37BE0-66CB-4488-A8CD-738316221DF8}"/>
              </a:ext>
            </a:extLst>
          </p:cNvPr>
          <p:cNvSpPr>
            <a:spLocks xmlns:a="http://schemas.openxmlformats.org/drawingml/2006/main" noGrp="1"/>
          </p:cNvSpPr>
          <p:nvPr/>
        </p:nvSpPr>
        <p:spPr>
          <a:xfrm xmlns:a="http://schemas.openxmlformats.org/drawingml/2006/main">
            <a:off x="914400" y="51435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4</a:t>
            </a:r>
          </a:p>
        </p:txBody>
      </p:sp>
      <p:sp>
        <p:nvSpPr>
          <p:cNvPr id="23" name="">
            <a:extLst xmlns:a="http://schemas.openxmlformats.org/drawingml/2006/main">
              <a:ext uri="{FF2B5EF4-FFF2-40B4-BE49-F238E27FC236}">
                <a16:creationId xmlns:a16="http://schemas.microsoft.com/office/drawing/2014/main" id="{8593CB67-0421-44B7-8576-FE1E46DC5988}"/>
              </a:ext>
            </a:extLst>
          </p:cNvPr>
          <p:cNvSpPr>
            <a:spLocks xmlns:a="http://schemas.openxmlformats.org/drawingml/2006/main" noGrp="1"/>
          </p:cNvSpPr>
          <p:nvPr/>
        </p:nvSpPr>
        <p:spPr>
          <a:xfrm xmlns:a="http://schemas.openxmlformats.org/drawingml/2006/main">
            <a:off x="1514475" y="5086350"/>
            <a:ext cx="3629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AES-128-GCM</a:t>
            </a:r>
          </a:p>
        </p:txBody>
      </p:sp>
      <p:sp>
        <p:nvSpPr>
          <p:cNvPr id="24" name="">
            <a:extLst xmlns:a="http://schemas.openxmlformats.org/drawingml/2006/main">
              <a:ext uri="{FF2B5EF4-FFF2-40B4-BE49-F238E27FC236}">
                <a16:creationId xmlns:a16="http://schemas.microsoft.com/office/drawing/2014/main" id="{3FC15763-051F-4FF3-9333-77D3600CA76B}"/>
              </a:ext>
            </a:extLst>
          </p:cNvPr>
          <p:cNvSpPr>
            <a:spLocks xmlns:a="http://schemas.openxmlformats.org/drawingml/2006/main" noGrp="1"/>
          </p:cNvSpPr>
          <p:nvPr/>
        </p:nvSpPr>
        <p:spPr>
          <a:xfrm xmlns:a="http://schemas.openxmlformats.org/drawingml/2006/main">
            <a:off x="5334000" y="5095875"/>
            <a:ext cx="581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D73"/>
                </a:solidFill>
                <a:latin typeface="DejaVu Sans"/>
                <a:ea typeface="DejaVu Sans"/>
                <a:cs typeface="DejaVu Sans"/>
              </a:defRPr>
            </a:pPr>
            <a:r>
              <a:rPr sz="1650" b="0">
                <a:solidFill>
                  <a:srgbClr val="596D73"/>
                </a:solidFill>
                <a:latin typeface="DejaVu Sans"/>
                <a:ea typeface="DejaVu Sans"/>
                <a:cs typeface="DejaVu Sans"/>
              </a:rPr>
              <a:t>Encrypt K_doc for the recipient</a:t>
            </a:r>
          </a:p>
        </p:txBody>
      </p:sp>
    </p:spTree>
    <p:extLst>
      <p:ext uri="{BB962C8B-B14F-4D97-AF65-F5344CB8AC3E}">
        <p14:creationId xmlns:p14="http://schemas.microsoft.com/office/powerpoint/2010/main" val="634500380"/>
      </p:ext>
    </p:extLst>
  </p:cSld>
</p:sld>
</file>

<file path=ppt/slides/slide1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5FDA56-F20F-4564-BC06-7F95CADCF7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6D26C4-37A0-406A-B837-722F5BD95825}"/>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SHARE AND RETRIEVAL</a:t>
            </a:r>
          </a:p>
        </p:txBody>
      </p:sp>
      <p:sp>
        <p:nvSpPr>
          <p:cNvPr id="3" name="">
            <a:extLst xmlns:a="http://schemas.openxmlformats.org/drawingml/2006/main">
              <a:ext uri="{FF2B5EF4-FFF2-40B4-BE49-F238E27FC236}">
                <a16:creationId xmlns:a16="http://schemas.microsoft.com/office/drawing/2014/main" id="{0603A544-54A4-498B-9C82-8FE9882C00AE}"/>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Recipient verifies twice</a:t>
            </a:r>
          </a:p>
        </p:txBody>
      </p:sp>
      <p:sp>
        <p:nvSpPr>
          <p:cNvPr id="4" name="">
            <a:extLst xmlns:a="http://schemas.openxmlformats.org/drawingml/2006/main">
              <a:ext uri="{FF2B5EF4-FFF2-40B4-BE49-F238E27FC236}">
                <a16:creationId xmlns:a16="http://schemas.microsoft.com/office/drawing/2014/main" id="{F9A44804-7552-457A-9BCF-4B24612FDB04}"/>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BA2111-71C0-427A-A2D6-2CE16C6C8D3B}"/>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12 / 17</a:t>
            </a:r>
          </a:p>
        </p:txBody>
      </p:sp>
      <p:sp>
        <p:nvSpPr>
          <p:cNvPr id="6" name="">
            <a:extLst xmlns:a="http://schemas.openxmlformats.org/drawingml/2006/main">
              <a:ext uri="{FF2B5EF4-FFF2-40B4-BE49-F238E27FC236}">
                <a16:creationId xmlns:a16="http://schemas.microsoft.com/office/drawing/2014/main" id="{4C5ABBC2-90F5-4A41-A452-81DD641CAA6F}"/>
              </a:ext>
            </a:extLst>
          </p:cNvPr>
          <p:cNvSpPr>
            <a:spLocks xmlns:a="http://schemas.openxmlformats.org/drawingml/2006/main" noGrp="1"/>
          </p:cNvSpPr>
          <p:nvPr/>
        </p:nvSpPr>
        <p:spPr>
          <a:xfrm xmlns:a="http://schemas.openxmlformats.org/drawingml/2006/main">
            <a:off x="714375" y="2257425"/>
            <a:ext cx="4962525" cy="2847975"/>
          </a:xfrm>
          <a:prstGeom xmlns:a="http://schemas.openxmlformats.org/drawingml/2006/main" prst="roundRect">
            <a:avLst>
              <a:gd name="adj" fmla="val 2676"/>
            </a:avLst>
          </a:prstGeom>
          <a:solidFill xmlns:a="http://schemas.openxmlformats.org/drawingml/2006/main">
            <a:srgbClr val="E8F2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800BDF4-09B2-4DA2-B00D-C15A981F7742}"/>
              </a:ext>
            </a:extLst>
          </p:cNvPr>
          <p:cNvSpPr>
            <a:spLocks xmlns:a="http://schemas.openxmlformats.org/drawingml/2006/main" noGrp="1"/>
          </p:cNvSpPr>
          <p:nvPr/>
        </p:nvSpPr>
        <p:spPr>
          <a:xfrm xmlns:a="http://schemas.openxmlformats.org/drawingml/2006/main">
            <a:off x="6496050" y="2257425"/>
            <a:ext cx="4962525" cy="2847975"/>
          </a:xfrm>
          <a:prstGeom xmlns:a="http://schemas.openxmlformats.org/drawingml/2006/main" prst="roundRect">
            <a:avLst>
              <a:gd name="adj" fmla="val 2676"/>
            </a:avLst>
          </a:prstGeom>
          <a:solidFill xmlns:a="http://schemas.openxmlformats.org/drawingml/2006/main">
            <a:srgbClr val="F2E7D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E86F60-677B-4D3A-A929-8E868155FEC7}"/>
              </a:ext>
            </a:extLst>
          </p:cNvPr>
          <p:cNvSpPr>
            <a:spLocks xmlns:a="http://schemas.openxmlformats.org/drawingml/2006/main" noGrp="1"/>
          </p:cNvSpPr>
          <p:nvPr/>
        </p:nvSpPr>
        <p:spPr>
          <a:xfrm xmlns:a="http://schemas.openxmlformats.org/drawingml/2006/main">
            <a:off x="990600" y="26003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79"/>
                </a:solidFill>
                <a:latin typeface="DejaVu Sans"/>
                <a:ea typeface="DejaVu Sans"/>
                <a:cs typeface="DejaVu Sans"/>
              </a:defRPr>
            </a:pPr>
            <a:r>
              <a:rPr sz="2025" b="1">
                <a:solidFill>
                  <a:srgbClr val="087F79"/>
                </a:solidFill>
                <a:latin typeface="DejaVu Sans"/>
                <a:ea typeface="DejaVu Sans"/>
                <a:cs typeface="DejaVu Sans"/>
              </a:rPr>
              <a:t>First: signed share</a:t>
            </a:r>
          </a:p>
        </p:txBody>
      </p:sp>
      <p:sp>
        <p:nvSpPr>
          <p:cNvPr id="9" name="">
            <a:extLst xmlns:a="http://schemas.openxmlformats.org/drawingml/2006/main">
              <a:ext uri="{FF2B5EF4-FFF2-40B4-BE49-F238E27FC236}">
                <a16:creationId xmlns:a16="http://schemas.microsoft.com/office/drawing/2014/main" id="{B34EDDF8-7EFE-46B3-999B-7F5D2CFF843F}"/>
              </a:ext>
            </a:extLst>
          </p:cNvPr>
          <p:cNvSpPr>
            <a:spLocks xmlns:a="http://schemas.openxmlformats.org/drawingml/2006/main" noGrp="1"/>
          </p:cNvSpPr>
          <p:nvPr/>
        </p:nvSpPr>
        <p:spPr>
          <a:xfrm xmlns:a="http://schemas.openxmlformats.org/drawingml/2006/main">
            <a:off x="990600" y="3257550"/>
            <a:ext cx="44005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Verify sender CA certificate</a:t>
            </a:r>
          </a:p>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Verify ECDSA on ShareRecord</a:t>
            </a:r>
          </a:p>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Unwrap K_doc</a:t>
            </a:r>
          </a:p>
        </p:txBody>
      </p:sp>
      <p:sp>
        <p:nvSpPr>
          <p:cNvPr id="10" name="">
            <a:extLst xmlns:a="http://schemas.openxmlformats.org/drawingml/2006/main">
              <a:ext uri="{FF2B5EF4-FFF2-40B4-BE49-F238E27FC236}">
                <a16:creationId xmlns:a16="http://schemas.microsoft.com/office/drawing/2014/main" id="{25C8CBF1-67E8-44C8-90EE-69BCE02438F8}"/>
              </a:ext>
            </a:extLst>
          </p:cNvPr>
          <p:cNvSpPr>
            <a:spLocks xmlns:a="http://schemas.openxmlformats.org/drawingml/2006/main" noGrp="1"/>
          </p:cNvSpPr>
          <p:nvPr/>
        </p:nvSpPr>
        <p:spPr>
          <a:xfrm xmlns:a="http://schemas.openxmlformats.org/drawingml/2006/main">
            <a:off x="6781800" y="2600325"/>
            <a:ext cx="440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C38B3E"/>
                </a:solidFill>
                <a:latin typeface="DejaVu Sans"/>
                <a:ea typeface="DejaVu Sans"/>
                <a:cs typeface="DejaVu Sans"/>
              </a:defRPr>
            </a:pPr>
            <a:r>
              <a:rPr sz="2025" b="1">
                <a:solidFill>
                  <a:srgbClr val="C38B3E"/>
                </a:solidFill>
                <a:latin typeface="DejaVu Sans"/>
                <a:ea typeface="DejaVu Sans"/>
                <a:cs typeface="DejaVu Sans"/>
              </a:rPr>
              <a:t>Second: encrypted file</a:t>
            </a:r>
          </a:p>
        </p:txBody>
      </p:sp>
      <p:sp>
        <p:nvSpPr>
          <p:cNvPr id="11" name="">
            <a:extLst xmlns:a="http://schemas.openxmlformats.org/drawingml/2006/main">
              <a:ext uri="{FF2B5EF4-FFF2-40B4-BE49-F238E27FC236}">
                <a16:creationId xmlns:a16="http://schemas.microsoft.com/office/drawing/2014/main" id="{0B4FA24B-6BC0-448E-9A47-821FA29BE7CB}"/>
              </a:ext>
            </a:extLst>
          </p:cNvPr>
          <p:cNvSpPr>
            <a:spLocks xmlns:a="http://schemas.openxmlformats.org/drawingml/2006/main" noGrp="1"/>
          </p:cNvSpPr>
          <p:nvPr/>
        </p:nvSpPr>
        <p:spPr>
          <a:xfrm xmlns:a="http://schemas.openxmlformats.org/drawingml/2006/main">
            <a:off x="6781800" y="3257550"/>
            <a:ext cx="44196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Verify GCM tag</a:t>
            </a:r>
          </a:p>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Check ID, owner, version, filename</a:t>
            </a:r>
          </a:p>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Then save plaintext</a:t>
            </a:r>
          </a:p>
        </p:txBody>
      </p:sp>
      <p:sp>
        <p:nvSpPr>
          <p:cNvPr id="12" name="">
            <a:extLst xmlns:a="http://schemas.openxmlformats.org/drawingml/2006/main">
              <a:ext uri="{FF2B5EF4-FFF2-40B4-BE49-F238E27FC236}">
                <a16:creationId xmlns:a16="http://schemas.microsoft.com/office/drawing/2014/main" id="{E7B4944C-CBBB-438B-AB0C-9D3304FB4F76}"/>
              </a:ext>
            </a:extLst>
          </p:cNvPr>
          <p:cNvSpPr>
            <a:spLocks xmlns:a="http://schemas.openxmlformats.org/drawingml/2006/main" noGrp="1"/>
          </p:cNvSpPr>
          <p:nvPr/>
        </p:nvSpPr>
        <p:spPr>
          <a:xfrm xmlns:a="http://schemas.openxmlformats.org/drawingml/2006/main">
            <a:off x="762000" y="5648325"/>
            <a:ext cx="10496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D73"/>
                </a:solidFill>
                <a:latin typeface="DejaVu Sans"/>
                <a:ea typeface="DejaVu Sans"/>
                <a:cs typeface="DejaVu Sans"/>
              </a:defRPr>
            </a:pPr>
            <a:r>
              <a:rPr sz="1650" b="0">
                <a:solidFill>
                  <a:srgbClr val="596D73"/>
                </a:solidFill>
                <a:latin typeface="DejaVu Sans"/>
                <a:ea typeface="DejaVu Sans"/>
                <a:cs typeface="DejaVu Sans"/>
              </a:rPr>
              <a:t>This is SecureVault’s non-repudiation guarantee: a signature proves who signed the record, so the sender cannot later deny it — but it does not sign the exact file bytes.</a:t>
            </a:r>
          </a:p>
        </p:txBody>
      </p:sp>
    </p:spTree>
    <p:extLst>
      <p:ext uri="{BB962C8B-B14F-4D97-AF65-F5344CB8AC3E}">
        <p14:creationId xmlns:p14="http://schemas.microsoft.com/office/powerpoint/2010/main" val="1669241547"/>
      </p:ext>
    </p:extLst>
  </p:cSld>
</p:sld>
</file>

<file path=ppt/slides/slide1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6E20DB8-DD43-4F3F-A989-FE258FBBC9A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AECD78-AEF0-4EF9-9AA4-CB8158B8F753}"/>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FRESHNESS</a:t>
            </a:r>
          </a:p>
        </p:txBody>
      </p:sp>
      <p:sp>
        <p:nvSpPr>
          <p:cNvPr id="3" name="">
            <a:extLst xmlns:a="http://schemas.openxmlformats.org/drawingml/2006/main">
              <a:ext uri="{FF2B5EF4-FFF2-40B4-BE49-F238E27FC236}">
                <a16:creationId xmlns:a16="http://schemas.microsoft.com/office/drawing/2014/main" id="{C1AA2D2A-FA62-42BD-85DE-9664FB197C4C}"/>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Old versions do not silently return</a:t>
            </a:r>
          </a:p>
        </p:txBody>
      </p:sp>
      <p:sp>
        <p:nvSpPr>
          <p:cNvPr id="4" name="">
            <a:extLst xmlns:a="http://schemas.openxmlformats.org/drawingml/2006/main">
              <a:ext uri="{FF2B5EF4-FFF2-40B4-BE49-F238E27FC236}">
                <a16:creationId xmlns:a16="http://schemas.microsoft.com/office/drawing/2014/main" id="{EA43C3C6-3B01-4E0C-8F0B-E133078A6F94}"/>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BB2B29-3879-4F04-A49A-A239C53EABD5}"/>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13 / 17</a:t>
            </a:r>
          </a:p>
        </p:txBody>
      </p:sp>
      <p:sp>
        <p:nvSpPr>
          <p:cNvPr id="6" name="">
            <a:extLst xmlns:a="http://schemas.openxmlformats.org/drawingml/2006/main">
              <a:ext uri="{FF2B5EF4-FFF2-40B4-BE49-F238E27FC236}">
                <a16:creationId xmlns:a16="http://schemas.microsoft.com/office/drawing/2014/main" id="{727ECBA6-1CBB-44FB-9377-F4589A61E47E}"/>
              </a:ext>
            </a:extLst>
          </p:cNvPr>
          <p:cNvSpPr>
            <a:spLocks xmlns:a="http://schemas.openxmlformats.org/drawingml/2006/main" noGrp="1"/>
          </p:cNvSpPr>
          <p:nvPr/>
        </p:nvSpPr>
        <p:spPr>
          <a:xfrm xmlns:a="http://schemas.openxmlformats.org/drawingml/2006/main">
            <a:off x="752475" y="2124075"/>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79"/>
                </a:solidFill>
                <a:latin typeface="DejaVu Sans"/>
                <a:ea typeface="DejaVu Sans"/>
                <a:cs typeface="DejaVu Sans"/>
              </a:defRPr>
            </a:pPr>
            <a:r>
              <a:rPr sz="2100" b="1">
                <a:solidFill>
                  <a:srgbClr val="087F79"/>
                </a:solidFill>
                <a:latin typeface="DejaVu Sans"/>
                <a:ea typeface="DejaVu Sans"/>
                <a:cs typeface="DejaVu Sans"/>
              </a:rPr>
              <a:t>trusted_versions.json</a:t>
            </a:r>
          </a:p>
        </p:txBody>
      </p:sp>
      <p:sp>
        <p:nvSpPr>
          <p:cNvPr id="7" name="">
            <a:extLst xmlns:a="http://schemas.openxmlformats.org/drawingml/2006/main">
              <a:ext uri="{FF2B5EF4-FFF2-40B4-BE49-F238E27FC236}">
                <a16:creationId xmlns:a16="http://schemas.microsoft.com/office/drawing/2014/main" id="{5793B6DD-E6F0-4A64-AD98-661283D8D88A}"/>
              </a:ext>
            </a:extLst>
          </p:cNvPr>
          <p:cNvSpPr>
            <a:spLocks xmlns:a="http://schemas.openxmlformats.org/drawingml/2006/main" noGrp="1"/>
          </p:cNvSpPr>
          <p:nvPr/>
        </p:nvSpPr>
        <p:spPr>
          <a:xfrm xmlns:a="http://schemas.openxmlformats.org/drawingml/2006/main">
            <a:off x="752475" y="2714625"/>
            <a:ext cx="102012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D73"/>
                </a:solidFill>
                <a:latin typeface="DejaVu Sans"/>
                <a:ea typeface="DejaVu Sans"/>
                <a:cs typeface="DejaVu Sans"/>
              </a:defRPr>
            </a:pPr>
            <a:r>
              <a:rPr sz="1725" b="0">
                <a:solidFill>
                  <a:srgbClr val="596D73"/>
                </a:solidFill>
                <a:latin typeface="DejaVu Sans"/>
                <a:ea typeface="DejaVu Sans"/>
                <a:cs typeface="DejaVu Sans"/>
              </a:rPr>
              <a:t>Records the last accepted version per user and document on this client.</a:t>
            </a:r>
          </a:p>
        </p:txBody>
      </p:sp>
      <p:sp>
        <p:nvSpPr>
          <p:cNvPr id="8" name="">
            <a:extLst xmlns:a="http://schemas.openxmlformats.org/drawingml/2006/main">
              <a:ext uri="{FF2B5EF4-FFF2-40B4-BE49-F238E27FC236}">
                <a16:creationId xmlns:a16="http://schemas.microsoft.com/office/drawing/2014/main" id="{2338632D-965D-4B46-9D90-B2DD4C8E9511}"/>
              </a:ext>
            </a:extLst>
          </p:cNvPr>
          <p:cNvSpPr>
            <a:spLocks xmlns:a="http://schemas.openxmlformats.org/drawingml/2006/main" noGrp="1"/>
          </p:cNvSpPr>
          <p:nvPr/>
        </p:nvSpPr>
        <p:spPr>
          <a:xfrm xmlns:a="http://schemas.openxmlformats.org/drawingml/2006/main">
            <a:off x="838200" y="3838575"/>
            <a:ext cx="2447925" cy="904875"/>
          </a:xfrm>
          <a:prstGeom xmlns:a="http://schemas.openxmlformats.org/drawingml/2006/main" prst="roundRect">
            <a:avLst>
              <a:gd name="adj" fmla="val 8421"/>
            </a:avLst>
          </a:prstGeom>
          <a:solidFill xmlns:a="http://schemas.openxmlformats.org/drawingml/2006/main">
            <a:srgbClr val="E8F2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AA5EC70-7509-46C5-9144-2D46C31E2AC9}"/>
              </a:ext>
            </a:extLst>
          </p:cNvPr>
          <p:cNvSpPr>
            <a:spLocks xmlns:a="http://schemas.openxmlformats.org/drawingml/2006/main" noGrp="1"/>
          </p:cNvSpPr>
          <p:nvPr/>
        </p:nvSpPr>
        <p:spPr>
          <a:xfrm xmlns:a="http://schemas.openxmlformats.org/drawingml/2006/main">
            <a:off x="1038225" y="39814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79"/>
                </a:solidFill>
                <a:latin typeface="DejaVu Sans"/>
                <a:ea typeface="DejaVu Sans"/>
                <a:cs typeface="DejaVu Sans"/>
              </a:defRPr>
            </a:pPr>
            <a:r>
              <a:rPr sz="2250" b="1">
                <a:solidFill>
                  <a:srgbClr val="087F79"/>
                </a:solidFill>
                <a:latin typeface="DejaVu Sans"/>
                <a:ea typeface="DejaVu Sans"/>
                <a:cs typeface="DejaVu Sans"/>
              </a:rPr>
              <a:t>v1</a:t>
            </a:r>
          </a:p>
        </p:txBody>
      </p:sp>
      <p:sp>
        <p:nvSpPr>
          <p:cNvPr id="10" name="">
            <a:extLst xmlns:a="http://schemas.openxmlformats.org/drawingml/2006/main">
              <a:ext uri="{FF2B5EF4-FFF2-40B4-BE49-F238E27FC236}">
                <a16:creationId xmlns:a16="http://schemas.microsoft.com/office/drawing/2014/main" id="{38D2E152-0089-443E-9E5F-8016EBC0EA43}"/>
              </a:ext>
            </a:extLst>
          </p:cNvPr>
          <p:cNvSpPr>
            <a:spLocks xmlns:a="http://schemas.openxmlformats.org/drawingml/2006/main" noGrp="1"/>
          </p:cNvSpPr>
          <p:nvPr/>
        </p:nvSpPr>
        <p:spPr>
          <a:xfrm xmlns:a="http://schemas.openxmlformats.org/drawingml/2006/main">
            <a:off x="1733550" y="4114800"/>
            <a:ext cx="176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C3B"/>
                </a:solidFill>
                <a:latin typeface="DejaVu Sans"/>
                <a:ea typeface="DejaVu Sans"/>
                <a:cs typeface="DejaVu Sans"/>
              </a:defRPr>
            </a:pPr>
            <a:r>
              <a:rPr sz="1350" b="0">
                <a:solidFill>
                  <a:srgbClr val="132C3B"/>
                </a:solidFill>
                <a:latin typeface="DejaVu Sans"/>
                <a:ea typeface="DejaVu Sans"/>
                <a:cs typeface="DejaVu Sans"/>
              </a:rPr>
              <a:t>accepted</a:t>
            </a:r>
          </a:p>
        </p:txBody>
      </p:sp>
      <p:sp>
        <p:nvSpPr>
          <p:cNvPr id="11" name="">
            <a:extLst xmlns:a="http://schemas.openxmlformats.org/drawingml/2006/main">
              <a:ext uri="{FF2B5EF4-FFF2-40B4-BE49-F238E27FC236}">
                <a16:creationId xmlns:a16="http://schemas.microsoft.com/office/drawing/2014/main" id="{6F707FC1-8F4B-402F-B137-D6E0CC84B039}"/>
              </a:ext>
            </a:extLst>
          </p:cNvPr>
          <p:cNvSpPr>
            <a:spLocks xmlns:a="http://schemas.openxmlformats.org/drawingml/2006/main" noGrp="1"/>
          </p:cNvSpPr>
          <p:nvPr/>
        </p:nvSpPr>
        <p:spPr>
          <a:xfrm xmlns:a="http://schemas.openxmlformats.org/drawingml/2006/main">
            <a:off x="3343275" y="4276725"/>
            <a:ext cx="676275"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2AC06F8-5B21-40B6-8096-59F172169BED}"/>
              </a:ext>
            </a:extLst>
          </p:cNvPr>
          <p:cNvSpPr>
            <a:spLocks xmlns:a="http://schemas.openxmlformats.org/drawingml/2006/main" noGrp="1"/>
          </p:cNvSpPr>
          <p:nvPr/>
        </p:nvSpPr>
        <p:spPr>
          <a:xfrm xmlns:a="http://schemas.openxmlformats.org/drawingml/2006/main">
            <a:off x="4000500" y="4191000"/>
            <a:ext cx="219075" cy="200025"/>
          </a:xfrm>
          <a:prstGeom xmlns:a="http://schemas.openxmlformats.org/drawingml/2006/main" prst="rightArrow">
            <a:avLst/>
          </a:prstGeom>
          <a:solidFill xmlns:a="http://schemas.openxmlformats.org/drawingml/2006/main">
            <a:srgbClr val="63B4A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72E871F-42E6-4F2B-BF9A-0EDA8C770B7B}"/>
              </a:ext>
            </a:extLst>
          </p:cNvPr>
          <p:cNvSpPr>
            <a:spLocks xmlns:a="http://schemas.openxmlformats.org/drawingml/2006/main" noGrp="1"/>
          </p:cNvSpPr>
          <p:nvPr/>
        </p:nvSpPr>
        <p:spPr>
          <a:xfrm xmlns:a="http://schemas.openxmlformats.org/drawingml/2006/main">
            <a:off x="4457700" y="3838575"/>
            <a:ext cx="2447925" cy="904875"/>
          </a:xfrm>
          <a:prstGeom xmlns:a="http://schemas.openxmlformats.org/drawingml/2006/main" prst="roundRect">
            <a:avLst>
              <a:gd name="adj" fmla="val 8421"/>
            </a:avLst>
          </a:prstGeom>
          <a:solidFill xmlns:a="http://schemas.openxmlformats.org/drawingml/2006/main">
            <a:srgbClr val="E8F2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4964412-8AC5-495F-90CC-4C5CDEEC5213}"/>
              </a:ext>
            </a:extLst>
          </p:cNvPr>
          <p:cNvSpPr>
            <a:spLocks xmlns:a="http://schemas.openxmlformats.org/drawingml/2006/main" noGrp="1"/>
          </p:cNvSpPr>
          <p:nvPr/>
        </p:nvSpPr>
        <p:spPr>
          <a:xfrm xmlns:a="http://schemas.openxmlformats.org/drawingml/2006/main">
            <a:off x="4657725" y="39814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79"/>
                </a:solidFill>
                <a:latin typeface="DejaVu Sans"/>
                <a:ea typeface="DejaVu Sans"/>
                <a:cs typeface="DejaVu Sans"/>
              </a:defRPr>
            </a:pPr>
            <a:r>
              <a:rPr sz="2250" b="1">
                <a:solidFill>
                  <a:srgbClr val="087F79"/>
                </a:solidFill>
                <a:latin typeface="DejaVu Sans"/>
                <a:ea typeface="DejaVu Sans"/>
                <a:cs typeface="DejaVu Sans"/>
              </a:rPr>
              <a:t>v2</a:t>
            </a:r>
          </a:p>
        </p:txBody>
      </p:sp>
      <p:sp>
        <p:nvSpPr>
          <p:cNvPr id="15" name="">
            <a:extLst xmlns:a="http://schemas.openxmlformats.org/drawingml/2006/main">
              <a:ext uri="{FF2B5EF4-FFF2-40B4-BE49-F238E27FC236}">
                <a16:creationId xmlns:a16="http://schemas.microsoft.com/office/drawing/2014/main" id="{CD3FAA66-FF87-4A2C-A47C-BD5FE793BAE9}"/>
              </a:ext>
            </a:extLst>
          </p:cNvPr>
          <p:cNvSpPr>
            <a:spLocks xmlns:a="http://schemas.openxmlformats.org/drawingml/2006/main" noGrp="1"/>
          </p:cNvSpPr>
          <p:nvPr/>
        </p:nvSpPr>
        <p:spPr>
          <a:xfrm xmlns:a="http://schemas.openxmlformats.org/drawingml/2006/main">
            <a:off x="5353050" y="4114800"/>
            <a:ext cx="176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C3B"/>
                </a:solidFill>
                <a:latin typeface="DejaVu Sans"/>
                <a:ea typeface="DejaVu Sans"/>
                <a:cs typeface="DejaVu Sans"/>
              </a:defRPr>
            </a:pPr>
            <a:r>
              <a:rPr sz="1350" b="0">
                <a:solidFill>
                  <a:srgbClr val="132C3B"/>
                </a:solidFill>
                <a:latin typeface="DejaVu Sans"/>
                <a:ea typeface="DejaVu Sans"/>
                <a:cs typeface="DejaVu Sans"/>
              </a:rPr>
              <a:t>accepted</a:t>
            </a:r>
          </a:p>
        </p:txBody>
      </p:sp>
      <p:sp>
        <p:nvSpPr>
          <p:cNvPr id="16" name="">
            <a:extLst xmlns:a="http://schemas.openxmlformats.org/drawingml/2006/main">
              <a:ext uri="{FF2B5EF4-FFF2-40B4-BE49-F238E27FC236}">
                <a16:creationId xmlns:a16="http://schemas.microsoft.com/office/drawing/2014/main" id="{6483A824-FBE7-416A-B158-076B68C5AC6A}"/>
              </a:ext>
            </a:extLst>
          </p:cNvPr>
          <p:cNvSpPr>
            <a:spLocks xmlns:a="http://schemas.openxmlformats.org/drawingml/2006/main" noGrp="1"/>
          </p:cNvSpPr>
          <p:nvPr/>
        </p:nvSpPr>
        <p:spPr>
          <a:xfrm xmlns:a="http://schemas.openxmlformats.org/drawingml/2006/main">
            <a:off x="6962775" y="4276725"/>
            <a:ext cx="676275" cy="28575"/>
          </a:xfrm>
          <a:prstGeom xmlns:a="http://schemas.openxmlformats.org/drawingml/2006/main" prst="rect">
            <a:avLst/>
          </a:prstGeom>
          <a:solidFill xmlns:a="http://schemas.openxmlformats.org/drawingml/2006/main">
            <a:srgbClr val="63B4A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4B5A9AA-17C0-4FB9-98F6-DE16776AEE0E}"/>
              </a:ext>
            </a:extLst>
          </p:cNvPr>
          <p:cNvSpPr>
            <a:spLocks xmlns:a="http://schemas.openxmlformats.org/drawingml/2006/main" noGrp="1"/>
          </p:cNvSpPr>
          <p:nvPr/>
        </p:nvSpPr>
        <p:spPr>
          <a:xfrm xmlns:a="http://schemas.openxmlformats.org/drawingml/2006/main">
            <a:off x="7620000" y="4191000"/>
            <a:ext cx="219075" cy="200025"/>
          </a:xfrm>
          <a:prstGeom xmlns:a="http://schemas.openxmlformats.org/drawingml/2006/main" prst="rightArrow">
            <a:avLst/>
          </a:prstGeom>
          <a:solidFill xmlns:a="http://schemas.openxmlformats.org/drawingml/2006/main">
            <a:srgbClr val="63B4A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C5408C2-86E6-47DB-850C-6BC9140F00AD}"/>
              </a:ext>
            </a:extLst>
          </p:cNvPr>
          <p:cNvSpPr>
            <a:spLocks xmlns:a="http://schemas.openxmlformats.org/drawingml/2006/main" noGrp="1"/>
          </p:cNvSpPr>
          <p:nvPr/>
        </p:nvSpPr>
        <p:spPr>
          <a:xfrm xmlns:a="http://schemas.openxmlformats.org/drawingml/2006/main">
            <a:off x="8077200" y="3838575"/>
            <a:ext cx="2447925" cy="904875"/>
          </a:xfrm>
          <a:prstGeom xmlns:a="http://schemas.openxmlformats.org/drawingml/2006/main" prst="roundRect">
            <a:avLst>
              <a:gd name="adj" fmla="val 8421"/>
            </a:avLst>
          </a:prstGeom>
          <a:solidFill xmlns:a="http://schemas.openxmlformats.org/drawingml/2006/main">
            <a:srgbClr val="F7E8E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135C523-43D9-43CF-98E5-F8881217858D}"/>
              </a:ext>
            </a:extLst>
          </p:cNvPr>
          <p:cNvSpPr>
            <a:spLocks xmlns:a="http://schemas.openxmlformats.org/drawingml/2006/main" noGrp="1"/>
          </p:cNvSpPr>
          <p:nvPr/>
        </p:nvSpPr>
        <p:spPr>
          <a:xfrm xmlns:a="http://schemas.openxmlformats.org/drawingml/2006/main">
            <a:off x="8277225" y="39814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D5754"/>
                </a:solidFill>
                <a:latin typeface="DejaVu Sans"/>
                <a:ea typeface="DejaVu Sans"/>
                <a:cs typeface="DejaVu Sans"/>
              </a:defRPr>
            </a:pPr>
            <a:r>
              <a:rPr sz="2250" b="1">
                <a:solidFill>
                  <a:srgbClr val="AD5754"/>
                </a:solidFill>
                <a:latin typeface="DejaVu Sans"/>
                <a:ea typeface="DejaVu Sans"/>
                <a:cs typeface="DejaVu Sans"/>
              </a:rPr>
              <a:t>v1</a:t>
            </a:r>
          </a:p>
        </p:txBody>
      </p:sp>
      <p:sp>
        <p:nvSpPr>
          <p:cNvPr id="20" name="">
            <a:extLst xmlns:a="http://schemas.openxmlformats.org/drawingml/2006/main">
              <a:ext uri="{FF2B5EF4-FFF2-40B4-BE49-F238E27FC236}">
                <a16:creationId xmlns:a16="http://schemas.microsoft.com/office/drawing/2014/main" id="{4E93D410-EFBC-4DEC-9B57-FAFBD7C0CA9B}"/>
              </a:ext>
            </a:extLst>
          </p:cNvPr>
          <p:cNvSpPr>
            <a:spLocks xmlns:a="http://schemas.openxmlformats.org/drawingml/2006/main" noGrp="1"/>
          </p:cNvSpPr>
          <p:nvPr/>
        </p:nvSpPr>
        <p:spPr>
          <a:xfrm xmlns:a="http://schemas.openxmlformats.org/drawingml/2006/main">
            <a:off x="8972550" y="4114800"/>
            <a:ext cx="176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C3B"/>
                </a:solidFill>
                <a:latin typeface="DejaVu Sans"/>
                <a:ea typeface="DejaVu Sans"/>
                <a:cs typeface="DejaVu Sans"/>
              </a:defRPr>
            </a:pPr>
            <a:r>
              <a:rPr sz="1350" b="0">
                <a:solidFill>
                  <a:srgbClr val="132C3B"/>
                </a:solidFill>
                <a:latin typeface="DejaVu Sans"/>
                <a:ea typeface="DejaVu Sans"/>
                <a:cs typeface="DejaVu Sans"/>
              </a:rPr>
              <a:t>replay rejected</a:t>
            </a:r>
          </a:p>
        </p:txBody>
      </p:sp>
      <p:sp>
        <p:nvSpPr>
          <p:cNvPr id="21" name="">
            <a:extLst xmlns:a="http://schemas.openxmlformats.org/drawingml/2006/main">
              <a:ext uri="{FF2B5EF4-FFF2-40B4-BE49-F238E27FC236}">
                <a16:creationId xmlns:a16="http://schemas.microsoft.com/office/drawing/2014/main" id="{08B53771-0EA8-4AD4-853F-F3FD0453C35F}"/>
              </a:ext>
            </a:extLst>
          </p:cNvPr>
          <p:cNvSpPr>
            <a:spLocks xmlns:a="http://schemas.openxmlformats.org/drawingml/2006/main" noGrp="1"/>
          </p:cNvSpPr>
          <p:nvPr/>
        </p:nvSpPr>
        <p:spPr>
          <a:xfrm xmlns:a="http://schemas.openxmlformats.org/drawingml/2006/main">
            <a:off x="752475" y="547687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2C3B"/>
                </a:solidFill>
                <a:latin typeface="DejaVu Sans"/>
                <a:ea typeface="DejaVu Sans"/>
                <a:cs typeface="DejaVu Sans"/>
              </a:defRPr>
            </a:pPr>
            <a:r>
              <a:rPr sz="1650" b="1">
                <a:solidFill>
                  <a:srgbClr val="132C3B"/>
                </a:solidFill>
                <a:latin typeface="DejaVu Sans"/>
                <a:ea typeface="DejaVu Sans"/>
                <a:cs typeface="DejaVu Sans"/>
              </a:rPr>
              <a:t>It survives a normal restart. Deleting or rolling back that local file weakens the check.</a:t>
            </a:r>
          </a:p>
        </p:txBody>
      </p:sp>
    </p:spTree>
    <p:extLst>
      <p:ext uri="{BB962C8B-B14F-4D97-AF65-F5344CB8AC3E}">
        <p14:creationId xmlns:p14="http://schemas.microsoft.com/office/powerpoint/2010/main" val="1229431839"/>
      </p:ext>
    </p:extLst>
  </p:cSld>
</p:sld>
</file>

<file path=ppt/slides/slide1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E4EAEC0-1A36-4F1B-A6C1-3A909AFF930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4DA06F-B2ED-4694-8160-2B58240E3FB7}"/>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SECURITY ARGUMENT</a:t>
            </a:r>
          </a:p>
        </p:txBody>
      </p:sp>
      <p:sp>
        <p:nvSpPr>
          <p:cNvPr id="3" name="">
            <a:extLst xmlns:a="http://schemas.openxmlformats.org/drawingml/2006/main">
              <a:ext uri="{FF2B5EF4-FFF2-40B4-BE49-F238E27FC236}">
                <a16:creationId xmlns:a16="http://schemas.microsoft.com/office/drawing/2014/main" id="{6BF1C94B-0F4D-4BC8-9AD2-AEF0D1F8B4A3}"/>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Each property has a mechanism</a:t>
            </a:r>
          </a:p>
        </p:txBody>
      </p:sp>
      <p:sp>
        <p:nvSpPr>
          <p:cNvPr id="4" name="">
            <a:extLst xmlns:a="http://schemas.openxmlformats.org/drawingml/2006/main">
              <a:ext uri="{FF2B5EF4-FFF2-40B4-BE49-F238E27FC236}">
                <a16:creationId xmlns:a16="http://schemas.microsoft.com/office/drawing/2014/main" id="{190E2540-DA76-489A-90DB-A1BA30ED06DE}"/>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3DAB36-97C8-4992-8A6F-08F3A30FEBF2}"/>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14 / 17</a:t>
            </a:r>
          </a:p>
        </p:txBody>
      </p:sp>
      <p:sp>
        <p:nvSpPr>
          <p:cNvPr id="6" name="">
            <a:extLst xmlns:a="http://schemas.openxmlformats.org/drawingml/2006/main">
              <a:ext uri="{FF2B5EF4-FFF2-40B4-BE49-F238E27FC236}">
                <a16:creationId xmlns:a16="http://schemas.microsoft.com/office/drawing/2014/main" id="{A7AF143A-DA9E-4228-ABA7-FAB49DF8DD6A}"/>
              </a:ext>
            </a:extLst>
          </p:cNvPr>
          <p:cNvSpPr>
            <a:spLocks xmlns:a="http://schemas.openxmlformats.org/drawingml/2006/main" noGrp="1"/>
          </p:cNvSpPr>
          <p:nvPr/>
        </p:nvSpPr>
        <p:spPr>
          <a:xfrm xmlns:a="http://schemas.openxmlformats.org/drawingml/2006/main">
            <a:off x="781050" y="2133600"/>
            <a:ext cx="4286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Contents stay secret</a:t>
            </a:r>
          </a:p>
        </p:txBody>
      </p:sp>
      <p:sp>
        <p:nvSpPr>
          <p:cNvPr id="7" name="">
            <a:extLst xmlns:a="http://schemas.openxmlformats.org/drawingml/2006/main">
              <a:ext uri="{FF2B5EF4-FFF2-40B4-BE49-F238E27FC236}">
                <a16:creationId xmlns:a16="http://schemas.microsoft.com/office/drawing/2014/main" id="{E933209D-7741-4E1E-B6D8-6006300E885B}"/>
              </a:ext>
            </a:extLst>
          </p:cNvPr>
          <p:cNvSpPr>
            <a:spLocks xmlns:a="http://schemas.openxmlformats.org/drawingml/2006/main" noGrp="1"/>
          </p:cNvSpPr>
          <p:nvPr/>
        </p:nvSpPr>
        <p:spPr>
          <a:xfrm xmlns:a="http://schemas.openxmlformats.org/drawingml/2006/main">
            <a:off x="5029200" y="2133600"/>
            <a:ext cx="621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Fresh K_doc + AES-128-GCM</a:t>
            </a:r>
          </a:p>
        </p:txBody>
      </p:sp>
      <p:sp>
        <p:nvSpPr>
          <p:cNvPr id="8" name="">
            <a:extLst xmlns:a="http://schemas.openxmlformats.org/drawingml/2006/main">
              <a:ext uri="{FF2B5EF4-FFF2-40B4-BE49-F238E27FC236}">
                <a16:creationId xmlns:a16="http://schemas.microsoft.com/office/drawing/2014/main" id="{BE659310-2031-4221-8220-5E8FE4CDC1CD}"/>
              </a:ext>
            </a:extLst>
          </p:cNvPr>
          <p:cNvSpPr>
            <a:spLocks xmlns:a="http://schemas.openxmlformats.org/drawingml/2006/main" noGrp="1"/>
          </p:cNvSpPr>
          <p:nvPr/>
        </p:nvSpPr>
        <p:spPr>
          <a:xfrm xmlns:a="http://schemas.openxmlformats.org/drawingml/2006/main">
            <a:off x="771525" y="2867025"/>
            <a:ext cx="10563225"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E859B2-6CB0-4CE5-BDFE-918B844DF13A}"/>
              </a:ext>
            </a:extLst>
          </p:cNvPr>
          <p:cNvSpPr>
            <a:spLocks xmlns:a="http://schemas.openxmlformats.org/drawingml/2006/main" noGrp="1"/>
          </p:cNvSpPr>
          <p:nvPr/>
        </p:nvSpPr>
        <p:spPr>
          <a:xfrm xmlns:a="http://schemas.openxmlformats.org/drawingml/2006/main">
            <a:off x="781050" y="3133725"/>
            <a:ext cx="4286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Changes are detected</a:t>
            </a:r>
          </a:p>
        </p:txBody>
      </p:sp>
      <p:sp>
        <p:nvSpPr>
          <p:cNvPr id="10" name="">
            <a:extLst xmlns:a="http://schemas.openxmlformats.org/drawingml/2006/main">
              <a:ext uri="{FF2B5EF4-FFF2-40B4-BE49-F238E27FC236}">
                <a16:creationId xmlns:a16="http://schemas.microsoft.com/office/drawing/2014/main" id="{3E0CAEF8-27EC-42A6-BD1C-2D42C934A25E}"/>
              </a:ext>
            </a:extLst>
          </p:cNvPr>
          <p:cNvSpPr>
            <a:spLocks xmlns:a="http://schemas.openxmlformats.org/drawingml/2006/main" noGrp="1"/>
          </p:cNvSpPr>
          <p:nvPr/>
        </p:nvSpPr>
        <p:spPr>
          <a:xfrm xmlns:a="http://schemas.openxmlformats.org/drawingml/2006/main">
            <a:off x="5029200" y="3133725"/>
            <a:ext cx="621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GCM tag authenticates ciphertext and AAD</a:t>
            </a:r>
          </a:p>
        </p:txBody>
      </p:sp>
      <p:sp>
        <p:nvSpPr>
          <p:cNvPr id="11" name="">
            <a:extLst xmlns:a="http://schemas.openxmlformats.org/drawingml/2006/main">
              <a:ext uri="{FF2B5EF4-FFF2-40B4-BE49-F238E27FC236}">
                <a16:creationId xmlns:a16="http://schemas.microsoft.com/office/drawing/2014/main" id="{4DBB8774-2AA6-4457-BD9B-C3A689F67959}"/>
              </a:ext>
            </a:extLst>
          </p:cNvPr>
          <p:cNvSpPr>
            <a:spLocks xmlns:a="http://schemas.openxmlformats.org/drawingml/2006/main" noGrp="1"/>
          </p:cNvSpPr>
          <p:nvPr/>
        </p:nvSpPr>
        <p:spPr>
          <a:xfrm xmlns:a="http://schemas.openxmlformats.org/drawingml/2006/main">
            <a:off x="771525" y="3867150"/>
            <a:ext cx="10563225"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7F57209-D892-4EC0-9CFA-1445838F874A}"/>
              </a:ext>
            </a:extLst>
          </p:cNvPr>
          <p:cNvSpPr>
            <a:spLocks xmlns:a="http://schemas.openxmlformats.org/drawingml/2006/main" noGrp="1"/>
          </p:cNvSpPr>
          <p:nvPr/>
        </p:nvSpPr>
        <p:spPr>
          <a:xfrm xmlns:a="http://schemas.openxmlformats.org/drawingml/2006/main">
            <a:off x="781050" y="4133850"/>
            <a:ext cx="4286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Sender is identified</a:t>
            </a:r>
          </a:p>
        </p:txBody>
      </p:sp>
      <p:sp>
        <p:nvSpPr>
          <p:cNvPr id="13" name="">
            <a:extLst xmlns:a="http://schemas.openxmlformats.org/drawingml/2006/main">
              <a:ext uri="{FF2B5EF4-FFF2-40B4-BE49-F238E27FC236}">
                <a16:creationId xmlns:a16="http://schemas.microsoft.com/office/drawing/2014/main" id="{1BDA4CA9-8ED3-4CFB-A112-6255C115815F}"/>
              </a:ext>
            </a:extLst>
          </p:cNvPr>
          <p:cNvSpPr>
            <a:spLocks xmlns:a="http://schemas.openxmlformats.org/drawingml/2006/main" noGrp="1"/>
          </p:cNvSpPr>
          <p:nvPr/>
        </p:nvSpPr>
        <p:spPr>
          <a:xfrm xmlns:a="http://schemas.openxmlformats.org/drawingml/2006/main">
            <a:off x="5029200" y="4133850"/>
            <a:ext cx="621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CA certificate + ECDSA signature</a:t>
            </a:r>
          </a:p>
        </p:txBody>
      </p:sp>
      <p:sp>
        <p:nvSpPr>
          <p:cNvPr id="14" name="">
            <a:extLst xmlns:a="http://schemas.openxmlformats.org/drawingml/2006/main">
              <a:ext uri="{FF2B5EF4-FFF2-40B4-BE49-F238E27FC236}">
                <a16:creationId xmlns:a16="http://schemas.microsoft.com/office/drawing/2014/main" id="{4BDE6655-A14C-4D99-9AA4-6F9B13B6CA0D}"/>
              </a:ext>
            </a:extLst>
          </p:cNvPr>
          <p:cNvSpPr>
            <a:spLocks xmlns:a="http://schemas.openxmlformats.org/drawingml/2006/main" noGrp="1"/>
          </p:cNvSpPr>
          <p:nvPr/>
        </p:nvSpPr>
        <p:spPr>
          <a:xfrm xmlns:a="http://schemas.openxmlformats.org/drawingml/2006/main">
            <a:off x="771525" y="4867275"/>
            <a:ext cx="10563225"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D2CD0E5-E2B8-4C58-A09F-AA6C4A22F41A}"/>
              </a:ext>
            </a:extLst>
          </p:cNvPr>
          <p:cNvSpPr>
            <a:spLocks xmlns:a="http://schemas.openxmlformats.org/drawingml/2006/main" noGrp="1"/>
          </p:cNvSpPr>
          <p:nvPr/>
        </p:nvSpPr>
        <p:spPr>
          <a:xfrm xmlns:a="http://schemas.openxmlformats.org/drawingml/2006/main">
            <a:off x="781050" y="5133975"/>
            <a:ext cx="4286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9"/>
                </a:solidFill>
                <a:latin typeface="DejaVu Sans"/>
                <a:ea typeface="DejaVu Sans"/>
                <a:cs typeface="DejaVu Sans"/>
              </a:defRPr>
            </a:pPr>
            <a:r>
              <a:rPr sz="1800" b="1">
                <a:solidFill>
                  <a:srgbClr val="087F79"/>
                </a:solidFill>
                <a:latin typeface="DejaVu Sans"/>
                <a:ea typeface="DejaVu Sans"/>
                <a:cs typeface="DejaVu Sans"/>
              </a:rPr>
              <a:t>Shared key stays secret</a:t>
            </a:r>
          </a:p>
        </p:txBody>
      </p:sp>
      <p:sp>
        <p:nvSpPr>
          <p:cNvPr id="16" name="">
            <a:extLst xmlns:a="http://schemas.openxmlformats.org/drawingml/2006/main">
              <a:ext uri="{FF2B5EF4-FFF2-40B4-BE49-F238E27FC236}">
                <a16:creationId xmlns:a16="http://schemas.microsoft.com/office/drawing/2014/main" id="{A08793BA-42CA-4C63-A3C1-70AFE3068D2C}"/>
              </a:ext>
            </a:extLst>
          </p:cNvPr>
          <p:cNvSpPr>
            <a:spLocks xmlns:a="http://schemas.openxmlformats.org/drawingml/2006/main" noGrp="1"/>
          </p:cNvSpPr>
          <p:nvPr/>
        </p:nvSpPr>
        <p:spPr>
          <a:xfrm xmlns:a="http://schemas.openxmlformats.org/drawingml/2006/main">
            <a:off x="5029200" y="5133975"/>
            <a:ext cx="621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C3B"/>
                </a:solidFill>
                <a:latin typeface="DejaVu Sans"/>
                <a:ea typeface="DejaVu Sans"/>
                <a:cs typeface="DejaVu Sans"/>
              </a:defRPr>
            </a:pPr>
            <a:r>
              <a:rPr sz="1650" b="0">
                <a:solidFill>
                  <a:srgbClr val="132C3B"/>
                </a:solidFill>
                <a:latin typeface="DejaVu Sans"/>
                <a:ea typeface="DejaVu Sans"/>
                <a:cs typeface="DejaVu Sans"/>
              </a:rPr>
              <a:t>Ephemeral ECDH + HKDF + GCM wrapping</a:t>
            </a:r>
          </a:p>
        </p:txBody>
      </p:sp>
      <p:sp>
        <p:nvSpPr>
          <p:cNvPr id="17" name="">
            <a:extLst xmlns:a="http://schemas.openxmlformats.org/drawingml/2006/main">
              <a:ext uri="{FF2B5EF4-FFF2-40B4-BE49-F238E27FC236}">
                <a16:creationId xmlns:a16="http://schemas.microsoft.com/office/drawing/2014/main" id="{8B754130-FF47-4D69-AB9E-C5D5E96A2B4F}"/>
              </a:ext>
            </a:extLst>
          </p:cNvPr>
          <p:cNvSpPr>
            <a:spLocks xmlns:a="http://schemas.openxmlformats.org/drawingml/2006/main" noGrp="1"/>
          </p:cNvSpPr>
          <p:nvPr/>
        </p:nvSpPr>
        <p:spPr>
          <a:xfrm xmlns:a="http://schemas.openxmlformats.org/drawingml/2006/main">
            <a:off x="771525" y="5867400"/>
            <a:ext cx="10563225"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Tree>
    <p:extLst>
      <p:ext uri="{BB962C8B-B14F-4D97-AF65-F5344CB8AC3E}">
        <p14:creationId xmlns:p14="http://schemas.microsoft.com/office/powerpoint/2010/main" val="2103705773"/>
      </p:ext>
    </p:extLst>
  </p:cSld>
</p:sld>
</file>

<file path=ppt/slides/slide1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74F9443-3DB9-404B-8C0B-E1F7060825A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17C391-128C-4B02-9DE0-FD21CAEA5A0B}"/>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TESTING</a:t>
            </a:r>
          </a:p>
        </p:txBody>
      </p:sp>
      <p:sp>
        <p:nvSpPr>
          <p:cNvPr id="3" name="">
            <a:extLst xmlns:a="http://schemas.openxmlformats.org/drawingml/2006/main">
              <a:ext uri="{FF2B5EF4-FFF2-40B4-BE49-F238E27FC236}">
                <a16:creationId xmlns:a16="http://schemas.microsoft.com/office/drawing/2014/main" id="{D048A6A5-911F-44D7-927A-DA0707E508DA}"/>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What the team has evidence for</a:t>
            </a:r>
          </a:p>
        </p:txBody>
      </p:sp>
      <p:sp>
        <p:nvSpPr>
          <p:cNvPr id="4" name="">
            <a:extLst xmlns:a="http://schemas.openxmlformats.org/drawingml/2006/main">
              <a:ext uri="{FF2B5EF4-FFF2-40B4-BE49-F238E27FC236}">
                <a16:creationId xmlns:a16="http://schemas.microsoft.com/office/drawing/2014/main" id="{5579D188-D7AB-4CFA-8F5F-A5E53B1EA02F}"/>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89869B-659A-43D1-B4F9-1ECAEC5417AB}"/>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15 / 17</a:t>
            </a:r>
          </a:p>
        </p:txBody>
      </p:sp>
      <p:sp>
        <p:nvSpPr>
          <p:cNvPr id="6" name="">
            <a:extLst xmlns:a="http://schemas.openxmlformats.org/drawingml/2006/main">
              <a:ext uri="{FF2B5EF4-FFF2-40B4-BE49-F238E27FC236}">
                <a16:creationId xmlns:a16="http://schemas.microsoft.com/office/drawing/2014/main" id="{F042573F-E39B-4981-AE76-6E7DB17C4720}"/>
              </a:ext>
            </a:extLst>
          </p:cNvPr>
          <p:cNvSpPr>
            <a:spLocks xmlns:a="http://schemas.openxmlformats.org/drawingml/2006/main" noGrp="1"/>
          </p:cNvSpPr>
          <p:nvPr/>
        </p:nvSpPr>
        <p:spPr>
          <a:xfrm xmlns:a="http://schemas.openxmlformats.org/drawingml/2006/main">
            <a:off x="762000" y="2181225"/>
            <a:ext cx="2933700" cy="1600200"/>
          </a:xfrm>
          <a:prstGeom xmlns:a="http://schemas.openxmlformats.org/drawingml/2006/main" prst="roundRect">
            <a:avLst>
              <a:gd name="adj" fmla="val 4762"/>
            </a:avLst>
          </a:prstGeom>
          <a:solidFill xmlns:a="http://schemas.openxmlformats.org/drawingml/2006/main">
            <a:srgbClr val="E8F2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CF17E35-8382-4B54-9E59-BDFB5F20150A}"/>
              </a:ext>
            </a:extLst>
          </p:cNvPr>
          <p:cNvSpPr>
            <a:spLocks xmlns:a="http://schemas.openxmlformats.org/drawingml/2006/main" noGrp="1"/>
          </p:cNvSpPr>
          <p:nvPr/>
        </p:nvSpPr>
        <p:spPr>
          <a:xfrm xmlns:a="http://schemas.openxmlformats.org/drawingml/2006/main">
            <a:off x="1057275" y="2419350"/>
            <a:ext cx="2333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87F79"/>
                </a:solidFill>
                <a:latin typeface="DejaVu Sans"/>
                <a:ea typeface="DejaVu Sans"/>
                <a:cs typeface="DejaVu Sans"/>
              </a:defRPr>
            </a:pPr>
            <a:r>
              <a:rPr sz="5850" b="1">
                <a:solidFill>
                  <a:srgbClr val="087F79"/>
                </a:solidFill>
                <a:latin typeface="DejaVu Sans"/>
                <a:ea typeface="DejaVu Sans"/>
                <a:cs typeface="DejaVu Sans"/>
              </a:rPr>
              <a:t>225</a:t>
            </a:r>
          </a:p>
        </p:txBody>
      </p:sp>
      <p:sp>
        <p:nvSpPr>
          <p:cNvPr id="8" name="">
            <a:extLst xmlns:a="http://schemas.openxmlformats.org/drawingml/2006/main">
              <a:ext uri="{FF2B5EF4-FFF2-40B4-BE49-F238E27FC236}">
                <a16:creationId xmlns:a16="http://schemas.microsoft.com/office/drawing/2014/main" id="{64C422D7-CB7B-4348-A29B-53DC12FA81EA}"/>
              </a:ext>
            </a:extLst>
          </p:cNvPr>
          <p:cNvSpPr>
            <a:spLocks xmlns:a="http://schemas.openxmlformats.org/drawingml/2006/main" noGrp="1"/>
          </p:cNvSpPr>
          <p:nvPr/>
        </p:nvSpPr>
        <p:spPr>
          <a:xfrm xmlns:a="http://schemas.openxmlformats.org/drawingml/2006/main">
            <a:off x="1047750" y="33528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C3B"/>
                </a:solidFill>
                <a:latin typeface="DejaVu Sans"/>
                <a:ea typeface="DejaVu Sans"/>
                <a:cs typeface="DejaVu Sans"/>
              </a:defRPr>
            </a:pPr>
            <a:r>
              <a:rPr sz="1575" b="1">
                <a:solidFill>
                  <a:srgbClr val="132C3B"/>
                </a:solidFill>
                <a:latin typeface="DejaVu Sans"/>
                <a:ea typeface="DejaVu Sans"/>
                <a:cs typeface="DejaVu Sans"/>
              </a:rPr>
              <a:t>tests passing</a:t>
            </a:r>
          </a:p>
        </p:txBody>
      </p:sp>
      <p:sp>
        <p:nvSpPr>
          <p:cNvPr id="9" name="">
            <a:extLst xmlns:a="http://schemas.openxmlformats.org/drawingml/2006/main">
              <a:ext uri="{FF2B5EF4-FFF2-40B4-BE49-F238E27FC236}">
                <a16:creationId xmlns:a16="http://schemas.microsoft.com/office/drawing/2014/main" id="{2C8E4C57-31D5-4F91-AC81-7D5CBD106EA6}"/>
              </a:ext>
            </a:extLst>
          </p:cNvPr>
          <p:cNvSpPr>
            <a:spLocks xmlns:a="http://schemas.openxmlformats.org/drawingml/2006/main" noGrp="1"/>
          </p:cNvSpPr>
          <p:nvPr/>
        </p:nvSpPr>
        <p:spPr>
          <a:xfrm xmlns:a="http://schemas.openxmlformats.org/drawingml/2006/main">
            <a:off x="4124325" y="2219325"/>
            <a:ext cx="7229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Certificate accepted for its username</a:t>
            </a:r>
          </a:p>
        </p:txBody>
      </p:sp>
      <p:sp>
        <p:nvSpPr>
          <p:cNvPr id="10" name="">
            <a:extLst xmlns:a="http://schemas.openxmlformats.org/drawingml/2006/main">
              <a:ext uri="{FF2B5EF4-FFF2-40B4-BE49-F238E27FC236}">
                <a16:creationId xmlns:a16="http://schemas.microsoft.com/office/drawing/2014/main" id="{C72D2E95-BDC5-4973-9A82-B46BF969B92D}"/>
              </a:ext>
            </a:extLst>
          </p:cNvPr>
          <p:cNvSpPr>
            <a:spLocks xmlns:a="http://schemas.openxmlformats.org/drawingml/2006/main" noGrp="1"/>
          </p:cNvSpPr>
          <p:nvPr/>
        </p:nvSpPr>
        <p:spPr>
          <a:xfrm xmlns:a="http://schemas.openxmlformats.org/drawingml/2006/main">
            <a:off x="4124325" y="3219450"/>
            <a:ext cx="7229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Share and document key recovered</a:t>
            </a:r>
          </a:p>
        </p:txBody>
      </p:sp>
      <p:sp>
        <p:nvSpPr>
          <p:cNvPr id="11" name="">
            <a:extLst xmlns:a="http://schemas.openxmlformats.org/drawingml/2006/main">
              <a:ext uri="{FF2B5EF4-FFF2-40B4-BE49-F238E27FC236}">
                <a16:creationId xmlns:a16="http://schemas.microsoft.com/office/drawing/2014/main" id="{995B2BD5-F013-4963-A87B-42172D71D1EF}"/>
              </a:ext>
            </a:extLst>
          </p:cNvPr>
          <p:cNvSpPr>
            <a:spLocks xmlns:a="http://schemas.openxmlformats.org/drawingml/2006/main" noGrp="1"/>
          </p:cNvSpPr>
          <p:nvPr/>
        </p:nvSpPr>
        <p:spPr>
          <a:xfrm xmlns:a="http://schemas.openxmlformats.org/drawingml/2006/main">
            <a:off x="4124325" y="4219575"/>
            <a:ext cx="72294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B"/>
                </a:solidFill>
                <a:latin typeface="DejaVu Sans"/>
                <a:ea typeface="DejaVu Sans"/>
                <a:cs typeface="DejaVu Sans"/>
              </a:defRPr>
            </a:pPr>
            <a:r>
              <a:rPr sz="1875" b="1">
                <a:solidFill>
                  <a:srgbClr val="132C3B"/>
                </a:solidFill>
                <a:latin typeface="DejaVu Sans"/>
                <a:ea typeface="DejaVu Sans"/>
                <a:cs typeface="DejaVu Sans"/>
              </a:rPr>
              <a:t>Replayed share rejected in a live session</a:t>
            </a:r>
          </a:p>
        </p:txBody>
      </p:sp>
      <p:sp>
        <p:nvSpPr>
          <p:cNvPr id="12" name="">
            <a:extLst xmlns:a="http://schemas.openxmlformats.org/drawingml/2006/main">
              <a:ext uri="{FF2B5EF4-FFF2-40B4-BE49-F238E27FC236}">
                <a16:creationId xmlns:a16="http://schemas.microsoft.com/office/drawing/2014/main" id="{9EC3B623-CB6E-4A63-A80B-8990BF688424}"/>
              </a:ext>
            </a:extLst>
          </p:cNvPr>
          <p:cNvSpPr>
            <a:spLocks xmlns:a="http://schemas.openxmlformats.org/drawingml/2006/main" noGrp="1"/>
          </p:cNvSpPr>
          <p:nvPr/>
        </p:nvSpPr>
        <p:spPr>
          <a:xfrm xmlns:a="http://schemas.openxmlformats.org/drawingml/2006/main">
            <a:off x="762000" y="5334000"/>
            <a:ext cx="1047750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3899EDD-9031-4DCB-9A17-9824371B89C9}"/>
              </a:ext>
            </a:extLst>
          </p:cNvPr>
          <p:cNvSpPr>
            <a:spLocks xmlns:a="http://schemas.openxmlformats.org/drawingml/2006/main" noGrp="1"/>
          </p:cNvSpPr>
          <p:nvPr/>
        </p:nvSpPr>
        <p:spPr>
          <a:xfrm xmlns:a="http://schemas.openxmlformats.org/drawingml/2006/main">
            <a:off x="771525" y="5600700"/>
            <a:ext cx="10429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D73"/>
                </a:solidFill>
                <a:latin typeface="DejaVu Sans"/>
                <a:ea typeface="DejaVu Sans"/>
                <a:cs typeface="DejaVu Sans"/>
              </a:defRPr>
            </a:pPr>
            <a:r>
              <a:rPr sz="1575" b="0">
                <a:solidFill>
                  <a:srgbClr val="596D73"/>
                </a:solidFill>
                <a:latin typeface="DejaVu Sans"/>
                <a:ea typeface="DejaVu Sans"/>
                <a:cs typeface="DejaVu Sans"/>
              </a:rPr>
              <a:t>From a fresh python -m pytest -v run on the current integrated codebase; 1 test skipped.</a:t>
            </a:r>
          </a:p>
        </p:txBody>
      </p:sp>
    </p:spTree>
    <p:extLst>
      <p:ext uri="{BB962C8B-B14F-4D97-AF65-F5344CB8AC3E}">
        <p14:creationId xmlns:p14="http://schemas.microsoft.com/office/powerpoint/2010/main" val="1705398946"/>
      </p:ext>
    </p:extLst>
  </p:cSld>
</p:sld>
</file>

<file path=ppt/slides/slide1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007945F-17E6-4B8A-98FB-4E41AC6155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8BF8C0-1DCA-4642-934C-E2DB94193DFD}"/>
              </a:ext>
            </a:extLst>
          </p:cNvPr>
          <p:cNvSpPr>
            <a:spLocks xmlns:a="http://schemas.openxmlformats.org/drawingml/2006/main" noGrp="1"/>
          </p:cNvSpPr>
          <p:nvPr/>
        </p:nvSpPr>
        <p:spPr>
          <a:xfrm xmlns:a="http://schemas.openxmlformats.org/drawingml/2006/main">
            <a:off x="647700" y="4191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79"/>
                </a:solidFill>
                <a:latin typeface="DejaVu Sans"/>
                <a:ea typeface="DejaVu Sans"/>
                <a:cs typeface="DejaVu Sans"/>
              </a:defRPr>
            </a:pPr>
            <a:r>
              <a:rPr sz="1125" b="1">
                <a:solidFill>
                  <a:srgbClr val="087F79"/>
                </a:solidFill>
                <a:latin typeface="DejaVu Sans"/>
                <a:ea typeface="DejaVu Sans"/>
                <a:cs typeface="DejaVu Sans"/>
              </a:rPr>
              <a:t>HONEST BOUNDARIES</a:t>
            </a:r>
          </a:p>
        </p:txBody>
      </p:sp>
      <p:sp>
        <p:nvSpPr>
          <p:cNvPr id="3" name="">
            <a:extLst xmlns:a="http://schemas.openxmlformats.org/drawingml/2006/main">
              <a:ext uri="{FF2B5EF4-FFF2-40B4-BE49-F238E27FC236}">
                <a16:creationId xmlns:a16="http://schemas.microsoft.com/office/drawing/2014/main" id="{B84100F6-B74C-4D9C-981C-E158ABC0646F}"/>
              </a:ext>
            </a:extLst>
          </p:cNvPr>
          <p:cNvSpPr>
            <a:spLocks xmlns:a="http://schemas.openxmlformats.org/drawingml/2006/main" noGrp="1"/>
          </p:cNvSpPr>
          <p:nvPr/>
        </p:nvSpPr>
        <p:spPr>
          <a:xfrm xmlns:a="http://schemas.openxmlformats.org/drawingml/2006/main">
            <a:off x="647700" y="847725"/>
            <a:ext cx="1083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2C3B"/>
                </a:solidFill>
                <a:latin typeface="DejaVu Sans"/>
                <a:ea typeface="DejaVu Sans"/>
                <a:cs typeface="DejaVu Sans"/>
              </a:defRPr>
            </a:pPr>
            <a:r>
              <a:rPr sz="3000" b="1">
                <a:solidFill>
                  <a:srgbClr val="132C3B"/>
                </a:solidFill>
                <a:latin typeface="DejaVu Sans"/>
                <a:ea typeface="DejaVu Sans"/>
                <a:cs typeface="DejaVu Sans"/>
              </a:rPr>
              <a:t>Limits we should state clearly</a:t>
            </a:r>
          </a:p>
        </p:txBody>
      </p:sp>
      <p:sp>
        <p:nvSpPr>
          <p:cNvPr id="4" name="">
            <a:extLst xmlns:a="http://schemas.openxmlformats.org/drawingml/2006/main">
              <a:ext uri="{FF2B5EF4-FFF2-40B4-BE49-F238E27FC236}">
                <a16:creationId xmlns:a16="http://schemas.microsoft.com/office/drawing/2014/main" id="{9D910BA4-9214-4A1A-99B2-AE70D5E667A2}"/>
              </a:ext>
            </a:extLst>
          </p:cNvPr>
          <p:cNvSpPr>
            <a:spLocks xmlns:a="http://schemas.openxmlformats.org/drawingml/2006/main" noGrp="1"/>
          </p:cNvSpPr>
          <p:nvPr/>
        </p:nvSpPr>
        <p:spPr>
          <a:xfrm xmlns:a="http://schemas.openxmlformats.org/drawingml/2006/main">
            <a:off x="647700" y="1685925"/>
            <a:ext cx="10839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ED6CF6-5415-40A9-A831-7F686528D706}"/>
              </a:ext>
            </a:extLst>
          </p:cNvPr>
          <p:cNvSpPr>
            <a:spLocks xmlns:a="http://schemas.openxmlformats.org/drawingml/2006/main" noGrp="1"/>
          </p:cNvSpPr>
          <p:nvPr/>
        </p:nvSpPr>
        <p:spPr>
          <a:xfrm xmlns:a="http://schemas.openxmlformats.org/drawingml/2006/main">
            <a:off x="10563225" y="6191250"/>
            <a:ext cx="981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D73"/>
                </a:solidFill>
                <a:latin typeface="DejaVu Sans"/>
                <a:ea typeface="DejaVu Sans"/>
                <a:cs typeface="DejaVu Sans"/>
              </a:defRPr>
            </a:pPr>
            <a:r>
              <a:rPr sz="1050" b="0">
                <a:solidFill>
                  <a:srgbClr val="596D73"/>
                </a:solidFill>
                <a:latin typeface="DejaVu Sans"/>
                <a:ea typeface="DejaVu Sans"/>
                <a:cs typeface="DejaVu Sans"/>
              </a:rPr>
              <a:t>16 / 17</a:t>
            </a:r>
          </a:p>
        </p:txBody>
      </p:sp>
      <p:sp>
        <p:nvSpPr>
          <p:cNvPr id="6" name="">
            <a:extLst xmlns:a="http://schemas.openxmlformats.org/drawingml/2006/main">
              <a:ext uri="{FF2B5EF4-FFF2-40B4-BE49-F238E27FC236}">
                <a16:creationId xmlns:a16="http://schemas.microsoft.com/office/drawing/2014/main" id="{7F77F360-FCB7-4346-828D-C6E41A80C82A}"/>
              </a:ext>
            </a:extLst>
          </p:cNvPr>
          <p:cNvSpPr>
            <a:spLocks xmlns:a="http://schemas.openxmlformats.org/drawingml/2006/main" noGrp="1"/>
          </p:cNvSpPr>
          <p:nvPr/>
        </p:nvSpPr>
        <p:spPr>
          <a:xfrm xmlns:a="http://schemas.openxmlformats.org/drawingml/2006/main">
            <a:off x="762000" y="2114550"/>
            <a:ext cx="35337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79"/>
                </a:solidFill>
                <a:latin typeface="DejaVu Sans"/>
                <a:ea typeface="DejaVu Sans"/>
                <a:cs typeface="DejaVu Sans"/>
              </a:defRPr>
            </a:pPr>
            <a:r>
              <a:rPr sz="1725" b="1">
                <a:solidFill>
                  <a:srgbClr val="087F79"/>
                </a:solidFill>
                <a:latin typeface="DejaVu Sans"/>
                <a:ea typeface="DejaVu Sans"/>
                <a:cs typeface="DejaVu Sans"/>
              </a:rPr>
              <a:t>No certificate revocation</a:t>
            </a:r>
          </a:p>
        </p:txBody>
      </p:sp>
      <p:sp>
        <p:nvSpPr>
          <p:cNvPr id="7" name="">
            <a:extLst xmlns:a="http://schemas.openxmlformats.org/drawingml/2006/main">
              <a:ext uri="{FF2B5EF4-FFF2-40B4-BE49-F238E27FC236}">
                <a16:creationId xmlns:a16="http://schemas.microsoft.com/office/drawing/2014/main" id="{92808131-05C1-452A-81DA-46EF7299F882}"/>
              </a:ext>
            </a:extLst>
          </p:cNvPr>
          <p:cNvSpPr>
            <a:spLocks xmlns:a="http://schemas.openxmlformats.org/drawingml/2006/main" noGrp="1"/>
          </p:cNvSpPr>
          <p:nvPr/>
        </p:nvSpPr>
        <p:spPr>
          <a:xfrm xmlns:a="http://schemas.openxmlformats.org/drawingml/2006/main">
            <a:off x="4333875" y="2114550"/>
            <a:ext cx="6838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32C3B"/>
                </a:solidFill>
                <a:latin typeface="DejaVu Sans"/>
                <a:ea typeface="DejaVu Sans"/>
                <a:cs typeface="DejaVu Sans"/>
              </a:defRPr>
            </a:pPr>
            <a:r>
              <a:rPr sz="1575" b="0">
                <a:solidFill>
                  <a:srgbClr val="132C3B"/>
                </a:solidFill>
                <a:latin typeface="DejaVu Sans"/>
                <a:ea typeface="DejaVu Sans"/>
                <a:cs typeface="DejaVu Sans"/>
              </a:rPr>
              <a:t>A compromised or mistakenly issued certificate stays valid until it expires.</a:t>
            </a:r>
          </a:p>
        </p:txBody>
      </p:sp>
      <p:sp>
        <p:nvSpPr>
          <p:cNvPr id="8" name="">
            <a:extLst xmlns:a="http://schemas.openxmlformats.org/drawingml/2006/main">
              <a:ext uri="{FF2B5EF4-FFF2-40B4-BE49-F238E27FC236}">
                <a16:creationId xmlns:a16="http://schemas.microsoft.com/office/drawing/2014/main" id="{94725FB8-5D3B-4F15-88F1-394F8847B447}"/>
              </a:ext>
            </a:extLst>
          </p:cNvPr>
          <p:cNvSpPr>
            <a:spLocks xmlns:a="http://schemas.openxmlformats.org/drawingml/2006/main" noGrp="1"/>
          </p:cNvSpPr>
          <p:nvPr/>
        </p:nvSpPr>
        <p:spPr>
          <a:xfrm xmlns:a="http://schemas.openxmlformats.org/drawingml/2006/main">
            <a:off x="762000" y="2867025"/>
            <a:ext cx="10458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1610AC-894F-4AF3-B762-D5B0C9AD7397}"/>
              </a:ext>
            </a:extLst>
          </p:cNvPr>
          <p:cNvSpPr>
            <a:spLocks xmlns:a="http://schemas.openxmlformats.org/drawingml/2006/main" noGrp="1"/>
          </p:cNvSpPr>
          <p:nvPr/>
        </p:nvSpPr>
        <p:spPr>
          <a:xfrm xmlns:a="http://schemas.openxmlformats.org/drawingml/2006/main">
            <a:off x="762000" y="3124200"/>
            <a:ext cx="35337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79"/>
                </a:solidFill>
                <a:latin typeface="DejaVu Sans"/>
                <a:ea typeface="DejaVu Sans"/>
                <a:cs typeface="DejaVu Sans"/>
              </a:defRPr>
            </a:pPr>
            <a:r>
              <a:rPr sz="1725" b="1">
                <a:solidFill>
                  <a:srgbClr val="087F79"/>
                </a:solidFill>
                <a:latin typeface="DejaVu Sans"/>
                <a:ea typeface="DejaVu Sans"/>
                <a:cs typeface="DejaVu Sans"/>
              </a:rPr>
              <a:t>Server memory</a:t>
            </a:r>
          </a:p>
        </p:txBody>
      </p:sp>
      <p:sp>
        <p:nvSpPr>
          <p:cNvPr id="10" name="">
            <a:extLst xmlns:a="http://schemas.openxmlformats.org/drawingml/2006/main">
              <a:ext uri="{FF2B5EF4-FFF2-40B4-BE49-F238E27FC236}">
                <a16:creationId xmlns:a16="http://schemas.microsoft.com/office/drawing/2014/main" id="{F50FA2C5-F283-47CB-8364-DA1AE96F1422}"/>
              </a:ext>
            </a:extLst>
          </p:cNvPr>
          <p:cNvSpPr>
            <a:spLocks xmlns:a="http://schemas.openxmlformats.org/drawingml/2006/main" noGrp="1"/>
          </p:cNvSpPr>
          <p:nvPr/>
        </p:nvSpPr>
        <p:spPr>
          <a:xfrm xmlns:a="http://schemas.openxmlformats.org/drawingml/2006/main">
            <a:off x="4333875" y="3124200"/>
            <a:ext cx="6838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32C3B"/>
                </a:solidFill>
                <a:latin typeface="DejaVu Sans"/>
                <a:ea typeface="DejaVu Sans"/>
                <a:cs typeface="DejaVu Sans"/>
              </a:defRPr>
            </a:pPr>
            <a:r>
              <a:rPr sz="1575" b="0">
                <a:solidFill>
                  <a:srgbClr val="132C3B"/>
                </a:solidFill>
                <a:latin typeface="DejaVu Sans"/>
                <a:ea typeface="DejaVu Sans"/>
                <a:cs typeface="DejaVu Sans"/>
              </a:rPr>
              <a:t>Users, documents and shares disappear after restart.</a:t>
            </a:r>
          </a:p>
        </p:txBody>
      </p:sp>
      <p:sp>
        <p:nvSpPr>
          <p:cNvPr id="11" name="">
            <a:extLst xmlns:a="http://schemas.openxmlformats.org/drawingml/2006/main">
              <a:ext uri="{FF2B5EF4-FFF2-40B4-BE49-F238E27FC236}">
                <a16:creationId xmlns:a16="http://schemas.microsoft.com/office/drawing/2014/main" id="{D1959EA9-9168-4650-9DC7-3252F16D4FAD}"/>
              </a:ext>
            </a:extLst>
          </p:cNvPr>
          <p:cNvSpPr>
            <a:spLocks xmlns:a="http://schemas.openxmlformats.org/drawingml/2006/main" noGrp="1"/>
          </p:cNvSpPr>
          <p:nvPr/>
        </p:nvSpPr>
        <p:spPr>
          <a:xfrm xmlns:a="http://schemas.openxmlformats.org/drawingml/2006/main">
            <a:off x="762000" y="3876675"/>
            <a:ext cx="10458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2076B67-D3C0-48FF-B46D-36FB8032810D}"/>
              </a:ext>
            </a:extLst>
          </p:cNvPr>
          <p:cNvSpPr>
            <a:spLocks xmlns:a="http://schemas.openxmlformats.org/drawingml/2006/main" noGrp="1"/>
          </p:cNvSpPr>
          <p:nvPr/>
        </p:nvSpPr>
        <p:spPr>
          <a:xfrm xmlns:a="http://schemas.openxmlformats.org/drawingml/2006/main">
            <a:off x="762000" y="4133850"/>
            <a:ext cx="35337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79"/>
                </a:solidFill>
                <a:latin typeface="DejaVu Sans"/>
                <a:ea typeface="DejaVu Sans"/>
                <a:cs typeface="DejaVu Sans"/>
              </a:defRPr>
            </a:pPr>
            <a:r>
              <a:rPr sz="1725" b="1">
                <a:solidFill>
                  <a:srgbClr val="087F79"/>
                </a:solidFill>
                <a:latin typeface="DejaVu Sans"/>
                <a:ea typeface="DejaVu Sans"/>
                <a:cs typeface="DejaVu Sans"/>
              </a:rPr>
              <a:t>Local version file</a:t>
            </a:r>
          </a:p>
        </p:txBody>
      </p:sp>
      <p:sp>
        <p:nvSpPr>
          <p:cNvPr id="13" name="">
            <a:extLst xmlns:a="http://schemas.openxmlformats.org/drawingml/2006/main">
              <a:ext uri="{FF2B5EF4-FFF2-40B4-BE49-F238E27FC236}">
                <a16:creationId xmlns:a16="http://schemas.microsoft.com/office/drawing/2014/main" id="{891F7DF8-DB7B-4182-B321-5D7AFFF9DB83}"/>
              </a:ext>
            </a:extLst>
          </p:cNvPr>
          <p:cNvSpPr>
            <a:spLocks xmlns:a="http://schemas.openxmlformats.org/drawingml/2006/main" noGrp="1"/>
          </p:cNvSpPr>
          <p:nvPr/>
        </p:nvSpPr>
        <p:spPr>
          <a:xfrm xmlns:a="http://schemas.openxmlformats.org/drawingml/2006/main">
            <a:off x="4333875" y="4133850"/>
            <a:ext cx="6838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32C3B"/>
                </a:solidFill>
                <a:latin typeface="DejaVu Sans"/>
                <a:ea typeface="DejaVu Sans"/>
                <a:cs typeface="DejaVu Sans"/>
              </a:defRPr>
            </a:pPr>
            <a:r>
              <a:rPr sz="1575" b="0">
                <a:solidFill>
                  <a:srgbClr val="132C3B"/>
                </a:solidFill>
                <a:latin typeface="DejaVu Sans"/>
                <a:ea typeface="DejaVu Sans"/>
                <a:cs typeface="DejaVu Sans"/>
              </a:rPr>
              <a:t>Deleting or rolling back JSON weakens freshness.</a:t>
            </a:r>
          </a:p>
        </p:txBody>
      </p:sp>
      <p:sp>
        <p:nvSpPr>
          <p:cNvPr id="14" name="">
            <a:extLst xmlns:a="http://schemas.openxmlformats.org/drawingml/2006/main">
              <a:ext uri="{FF2B5EF4-FFF2-40B4-BE49-F238E27FC236}">
                <a16:creationId xmlns:a16="http://schemas.microsoft.com/office/drawing/2014/main" id="{2494EBAA-6457-452C-AD9B-1C0B37AD3541}"/>
              </a:ext>
            </a:extLst>
          </p:cNvPr>
          <p:cNvSpPr>
            <a:spLocks xmlns:a="http://schemas.openxmlformats.org/drawingml/2006/main" noGrp="1"/>
          </p:cNvSpPr>
          <p:nvPr/>
        </p:nvSpPr>
        <p:spPr>
          <a:xfrm xmlns:a="http://schemas.openxmlformats.org/drawingml/2006/main">
            <a:off x="762000" y="4886325"/>
            <a:ext cx="10458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41E119A-8D5A-4934-B0D9-466259429916}"/>
              </a:ext>
            </a:extLst>
          </p:cNvPr>
          <p:cNvSpPr>
            <a:spLocks xmlns:a="http://schemas.openxmlformats.org/drawingml/2006/main" noGrp="1"/>
          </p:cNvSpPr>
          <p:nvPr/>
        </p:nvSpPr>
        <p:spPr>
          <a:xfrm xmlns:a="http://schemas.openxmlformats.org/drawingml/2006/main">
            <a:off x="762000" y="5143500"/>
            <a:ext cx="35337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79"/>
                </a:solidFill>
                <a:latin typeface="DejaVu Sans"/>
                <a:ea typeface="DejaVu Sans"/>
                <a:cs typeface="DejaVu Sans"/>
              </a:defRPr>
            </a:pPr>
            <a:r>
              <a:rPr sz="1725" b="1">
                <a:solidFill>
                  <a:srgbClr val="087F79"/>
                </a:solidFill>
                <a:latin typeface="DejaVu Sans"/>
                <a:ea typeface="DejaVu Sans"/>
                <a:cs typeface="DejaVu Sans"/>
              </a:rPr>
              <a:t>Owner document keys</a:t>
            </a:r>
          </a:p>
        </p:txBody>
      </p:sp>
      <p:sp>
        <p:nvSpPr>
          <p:cNvPr id="16" name="">
            <a:extLst xmlns:a="http://schemas.openxmlformats.org/drawingml/2006/main">
              <a:ext uri="{FF2B5EF4-FFF2-40B4-BE49-F238E27FC236}">
                <a16:creationId xmlns:a16="http://schemas.microsoft.com/office/drawing/2014/main" id="{6C8DE229-9A62-43DA-B8C3-E9A150AE40E4}"/>
              </a:ext>
            </a:extLst>
          </p:cNvPr>
          <p:cNvSpPr>
            <a:spLocks xmlns:a="http://schemas.openxmlformats.org/drawingml/2006/main" noGrp="1"/>
          </p:cNvSpPr>
          <p:nvPr/>
        </p:nvSpPr>
        <p:spPr>
          <a:xfrm xmlns:a="http://schemas.openxmlformats.org/drawingml/2006/main">
            <a:off x="4333875" y="5143500"/>
            <a:ext cx="6838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32C3B"/>
                </a:solidFill>
                <a:latin typeface="DejaVu Sans"/>
                <a:ea typeface="DejaVu Sans"/>
                <a:cs typeface="DejaVu Sans"/>
              </a:defRPr>
            </a:pPr>
            <a:r>
              <a:rPr sz="1575" b="0">
                <a:solidFill>
                  <a:srgbClr val="132C3B"/>
                </a:solidFill>
                <a:latin typeface="DejaVu Sans"/>
                <a:ea typeface="DejaVu Sans"/>
                <a:cs typeface="DejaVu Sans"/>
              </a:rPr>
              <a:t>K_doc for uploaded files lasts only during client session.</a:t>
            </a:r>
          </a:p>
        </p:txBody>
      </p:sp>
      <p:sp>
        <p:nvSpPr>
          <p:cNvPr id="17" name="">
            <a:extLst xmlns:a="http://schemas.openxmlformats.org/drawingml/2006/main">
              <a:ext uri="{FF2B5EF4-FFF2-40B4-BE49-F238E27FC236}">
                <a16:creationId xmlns:a16="http://schemas.microsoft.com/office/drawing/2014/main" id="{068C2D1A-9469-4CB7-A55A-436FEC837DA6}"/>
              </a:ext>
            </a:extLst>
          </p:cNvPr>
          <p:cNvSpPr>
            <a:spLocks xmlns:a="http://schemas.openxmlformats.org/drawingml/2006/main" noGrp="1"/>
          </p:cNvSpPr>
          <p:nvPr/>
        </p:nvSpPr>
        <p:spPr>
          <a:xfrm xmlns:a="http://schemas.openxmlformats.org/drawingml/2006/main">
            <a:off x="762000" y="5895975"/>
            <a:ext cx="10458450" cy="19050"/>
          </a:xfrm>
          <a:prstGeom xmlns:a="http://schemas.openxmlformats.org/drawingml/2006/main" prst="rect">
            <a:avLst/>
          </a:prstGeom>
          <a:solidFill xmlns:a="http://schemas.openxmlformats.org/drawingml/2006/main">
            <a:srgbClr val="D5DEDA"/>
          </a:solidFill>
          <a:ln xmlns:a="http://schemas.openxmlformats.org/drawingml/2006/main" w="0">
            <a:noFill/>
          </a:ln>
        </p:spPr>
      </p:sp>
    </p:spTree>
    <p:extLst>
      <p:ext uri="{BB962C8B-B14F-4D97-AF65-F5344CB8AC3E}">
        <p14:creationId xmlns:p14="http://schemas.microsoft.com/office/powerpoint/2010/main" val="937637478"/>
      </p:ext>
    </p:extLst>
  </p:cSld>
</p:sld>
</file>

<file path=ppt/slides/slide1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15170F-73B7-4264-8AD1-68CFA7C1382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F79"/>
          </a:solidFill>
          <a:ln xmlns:a="http://schemas.openxmlformats.org/drawingml/2006/main" w="0">
            <a:no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2785098216141b0"/>
          <a:srcRect xmlns:a="http://schemas.openxmlformats.org/drawingml/2006/main" l="29000" t="0" r="0" b="0"/>
          <a:stretch xmlns:a="http://schemas.openxmlformats.org/drawingml/2006/main"/>
        </p:blipFill>
        <p:spPr>
          <a:xfrm xmlns:a="http://schemas.openxmlformats.org/drawingml/2006/main">
            <a:off x="6419850" y="0"/>
            <a:ext cx="57721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3463D8-595D-4314-B47E-5D3FC83A97A3}"/>
              </a:ext>
            </a:extLst>
          </p:cNvPr>
          <p:cNvSpPr>
            <a:spLocks xmlns:a="http://schemas.openxmlformats.org/drawingml/2006/main" noGrp="1"/>
          </p:cNvSpPr>
          <p:nvPr/>
        </p:nvSpPr>
        <p:spPr>
          <a:xfrm xmlns:a="http://schemas.openxmlformats.org/drawingml/2006/main">
            <a:off x="647700" y="1752600"/>
            <a:ext cx="55530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32C3B"/>
                </a:solidFill>
                <a:latin typeface="DejaVu Sans"/>
                <a:ea typeface="DejaVu Sans"/>
                <a:cs typeface="DejaVu Sans"/>
              </a:defRPr>
            </a:pPr>
            <a:r>
              <a:rPr sz="4350" b="1">
                <a:solidFill>
                  <a:srgbClr val="132C3B"/>
                </a:solidFill>
                <a:latin typeface="DejaVu Sans"/>
                <a:ea typeface="DejaVu Sans"/>
                <a:cs typeface="DejaVu Sans"/>
              </a:rPr>
              <a:t>SecureVault</a:t>
            </a:r>
          </a:p>
        </p:txBody>
      </p:sp>
      <p:sp>
        <p:nvSpPr>
          <p:cNvPr id="4" name="">
            <a:extLst xmlns:a="http://schemas.openxmlformats.org/drawingml/2006/main">
              <a:ext uri="{FF2B5EF4-FFF2-40B4-BE49-F238E27FC236}">
                <a16:creationId xmlns:a16="http://schemas.microsoft.com/office/drawing/2014/main" id="{A727B37E-58C2-43FC-BB5A-6DFC03804ADA}"/>
              </a:ext>
            </a:extLst>
          </p:cNvPr>
          <p:cNvSpPr>
            <a:spLocks xmlns:a="http://schemas.openxmlformats.org/drawingml/2006/main" noGrp="1"/>
          </p:cNvSpPr>
          <p:nvPr/>
        </p:nvSpPr>
        <p:spPr>
          <a:xfrm xmlns:a="http://schemas.openxmlformats.org/drawingml/2006/main">
            <a:off x="666750" y="2933700"/>
            <a:ext cx="51149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F79"/>
                </a:solidFill>
                <a:latin typeface="DejaVu Sans"/>
                <a:ea typeface="DejaVu Sans"/>
                <a:cs typeface="DejaVu Sans"/>
              </a:defRPr>
            </a:pPr>
            <a:r>
              <a:rPr sz="3150" b="1">
                <a:solidFill>
                  <a:srgbClr val="087F79"/>
                </a:solidFill>
                <a:latin typeface="DejaVu Sans"/>
                <a:ea typeface="DejaVu Sans"/>
                <a:cs typeface="DejaVu Sans"/>
              </a:rPr>
              <a:t>Thank you</a:t>
            </a:r>
          </a:p>
        </p:txBody>
      </p:sp>
      <p:sp>
        <p:nvSpPr>
          <p:cNvPr id="5" name="">
            <a:extLst xmlns:a="http://schemas.openxmlformats.org/drawingml/2006/main">
              <a:ext uri="{FF2B5EF4-FFF2-40B4-BE49-F238E27FC236}">
                <a16:creationId xmlns:a16="http://schemas.microsoft.com/office/drawing/2014/main" id="{8C4617B2-E677-44E8-86CD-B4C0A8EE2D37}"/>
              </a:ext>
            </a:extLst>
          </p:cNvPr>
          <p:cNvSpPr>
            <a:spLocks xmlns:a="http://schemas.openxmlformats.org/drawingml/2006/main" noGrp="1"/>
          </p:cNvSpPr>
          <p:nvPr/>
        </p:nvSpPr>
        <p:spPr>
          <a:xfrm xmlns:a="http://schemas.openxmlformats.org/drawingml/2006/main">
            <a:off x="685800" y="4067175"/>
            <a:ext cx="4086225" cy="38100"/>
          </a:xfrm>
          <a:prstGeom xmlns:a="http://schemas.openxmlformats.org/drawingml/2006/main" prst="rect">
            <a:avLst/>
          </a:prstGeom>
          <a:solidFill xmlns:a="http://schemas.openxmlformats.org/drawingml/2006/main">
            <a:srgbClr val="C38B3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B130A5-1133-4E7F-BD2A-F22B963991C4}"/>
              </a:ext>
            </a:extLst>
          </p:cNvPr>
          <p:cNvSpPr>
            <a:spLocks xmlns:a="http://schemas.openxmlformats.org/drawingml/2006/main" noGrp="1"/>
          </p:cNvSpPr>
          <p:nvPr/>
        </p:nvSpPr>
        <p:spPr>
          <a:xfrm xmlns:a="http://schemas.openxmlformats.org/drawingml/2006/main">
            <a:off x="676275" y="4371975"/>
            <a:ext cx="46101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C3B"/>
                </a:solidFill>
                <a:latin typeface="DejaVu Sans"/>
                <a:ea typeface="DejaVu Sans"/>
                <a:cs typeface="DejaVu Sans"/>
              </a:defRPr>
            </a:pPr>
            <a:r>
              <a:rPr sz="2100" b="0">
                <a:solidFill>
                  <a:srgbClr val="132C3B"/>
                </a:solidFill>
                <a:latin typeface="DejaVu Sans"/>
                <a:ea typeface="DejaVu Sans"/>
                <a:cs typeface="DejaVu Sans"/>
              </a:rPr>
              <a:t>Questions?</a:t>
            </a:r>
          </a:p>
        </p:txBody>
      </p:sp>
      <p:sp>
        <p:nvSpPr>
          <p:cNvPr id="7" name="">
            <a:extLst xmlns:a="http://schemas.openxmlformats.org/drawingml/2006/main">
              <a:ext uri="{FF2B5EF4-FFF2-40B4-BE49-F238E27FC236}">
                <a16:creationId xmlns:a16="http://schemas.microsoft.com/office/drawing/2014/main" id="{07B2FA85-78ED-4C08-BED4-26E82D3BB9C6}"/>
              </a:ext>
            </a:extLst>
          </p:cNvPr>
          <p:cNvSpPr>
            <a:spLocks xmlns:a="http://schemas.openxmlformats.org/drawingml/2006/main" noGrp="1"/>
          </p:cNvSpPr>
          <p:nvPr/>
        </p:nvSpPr>
        <p:spPr>
          <a:xfrm xmlns:a="http://schemas.openxmlformats.org/drawingml/2006/main">
            <a:off x="676275" y="6010275"/>
            <a:ext cx="5562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D73"/>
                </a:solidFill>
                <a:latin typeface="DejaVu Sans"/>
                <a:ea typeface="DejaVu Sans"/>
                <a:cs typeface="DejaVu Sans"/>
              </a:defRPr>
            </a:pPr>
            <a:r>
              <a:rPr sz="1275" b="0">
                <a:solidFill>
                  <a:srgbClr val="596D73"/>
                </a:solidFill>
                <a:latin typeface="DejaVu Sans"/>
                <a:ea typeface="DejaVu Sans"/>
                <a:cs typeface="DejaVu Sans"/>
              </a:rPr>
              <a:t>Aya Jararaa  ·  Dalya Ghazal  ·  Mayar Etawi</a:t>
            </a:r>
          </a:p>
        </p:txBody>
      </p:sp>
    </p:spTree>
    <p:extLst>
      <p:ext uri="{BB962C8B-B14F-4D97-AF65-F5344CB8AC3E}">
        <p14:creationId xmlns:p14="http://schemas.microsoft.com/office/powerpoint/2010/main" val="444955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2026-09-27T09:28:40.9270000Z</dcterms:created>
  <dcterms:modified xsi:type="dcterms:W3CDTF">2026-09-27T09:28:40.9270000Z</dcterms:modified>
</coreProperties>
</file>